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87EA7A-1638-72A3-9AF8-1DF55FD0A5DA}" v="487" dt="2026-04-15T17:12:29.2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9" d="100"/>
          <a:sy n="69" d="100"/>
        </p:scale>
        <p:origin x="225" y="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929649-3A24-463A-BE8C-DF91B008861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0901B13-ED46-4095-B92E-1B53D6308857}">
      <dgm:prSet/>
      <dgm:spPr/>
      <dgm:t>
        <a:bodyPr/>
        <a:lstStyle/>
        <a:p>
          <a:pPr>
            <a:lnSpc>
              <a:spcPct val="100000"/>
            </a:lnSpc>
          </a:pPr>
          <a:r>
            <a:rPr lang="en-US"/>
            <a:t>The project focuses on studying the impact of AI tools, especially ChatGPT, on developer productivity. The main aim is to understand how the use of AI influences the way developers work and perform their tasks in real-world situations. To achieve this, we used two different datasets: one containing sentiment data from tweets about ChatGPT, and another containing developer productivity data such as AI usage hours, coding hours, sleep hours, and commits.</a:t>
          </a:r>
        </a:p>
      </dgm:t>
    </dgm:pt>
    <dgm:pt modelId="{1E119850-AAED-4B8A-9AB6-99B34D37509A}" type="parTrans" cxnId="{43C17C7D-B5BD-4EE4-8371-1D9E4163E16D}">
      <dgm:prSet/>
      <dgm:spPr/>
      <dgm:t>
        <a:bodyPr/>
        <a:lstStyle/>
        <a:p>
          <a:endParaRPr lang="en-US"/>
        </a:p>
      </dgm:t>
    </dgm:pt>
    <dgm:pt modelId="{0ED5E61E-93E3-486A-BD7B-BB64B9C9AEAB}" type="sibTrans" cxnId="{43C17C7D-B5BD-4EE4-8371-1D9E4163E16D}">
      <dgm:prSet/>
      <dgm:spPr/>
      <dgm:t>
        <a:bodyPr/>
        <a:lstStyle/>
        <a:p>
          <a:endParaRPr lang="en-US"/>
        </a:p>
      </dgm:t>
    </dgm:pt>
    <dgm:pt modelId="{9EF9BF82-C63F-4434-B26D-8661145DDA7D}">
      <dgm:prSet/>
      <dgm:spPr/>
      <dgm:t>
        <a:bodyPr/>
        <a:lstStyle/>
        <a:p>
          <a:pPr>
            <a:lnSpc>
              <a:spcPct val="100000"/>
            </a:lnSpc>
          </a:pPr>
          <a:r>
            <a:rPr lang="en-US"/>
            <a:t>We analyzed real-world developer behavior by combining insights from both datasets. Before performing the analysis, we applied data preprocessing techniques such as cleaning the data, handling missing values, and standardizing the format to ensure accuracy. After preprocessing, we performed exploratory data analysis to identify patterns, trends, and relationships between different variables.</a:t>
          </a:r>
        </a:p>
      </dgm:t>
    </dgm:pt>
    <dgm:pt modelId="{3A1F0D88-1464-40ED-919B-6D29DFB108DF}" type="parTrans" cxnId="{DA0F6569-5597-4CBE-8372-62FE346DF8C3}">
      <dgm:prSet/>
      <dgm:spPr/>
      <dgm:t>
        <a:bodyPr/>
        <a:lstStyle/>
        <a:p>
          <a:endParaRPr lang="en-US"/>
        </a:p>
      </dgm:t>
    </dgm:pt>
    <dgm:pt modelId="{00C7201F-1649-4BE9-BF8E-3BDD5B9E73C4}" type="sibTrans" cxnId="{DA0F6569-5597-4CBE-8372-62FE346DF8C3}">
      <dgm:prSet/>
      <dgm:spPr/>
      <dgm:t>
        <a:bodyPr/>
        <a:lstStyle/>
        <a:p>
          <a:endParaRPr lang="en-US"/>
        </a:p>
      </dgm:t>
    </dgm:pt>
    <dgm:pt modelId="{CAB6C9C3-61B7-4ABD-9D01-E4FDA155C6B1}">
      <dgm:prSet/>
      <dgm:spPr/>
      <dgm:t>
        <a:bodyPr/>
        <a:lstStyle/>
        <a:p>
          <a:pPr>
            <a:lnSpc>
              <a:spcPct val="100000"/>
            </a:lnSpc>
          </a:pPr>
          <a:r>
            <a:rPr lang="en-US"/>
            <a:t>We also applied machine learning models to better understand and predict developer productivity based on different factors. Finally, we created an interactive Power BI dashboard to visualize the results and generate meaningful insights. This overall approach helps us understand how AI tools like ChatGPT affect productivity and efficiency in modern development environments.</a:t>
          </a:r>
        </a:p>
      </dgm:t>
    </dgm:pt>
    <dgm:pt modelId="{2FCD5112-A0C2-4F8C-BBC8-7B7B261428F8}" type="parTrans" cxnId="{D3E739B4-D3EE-4E95-9426-6AE1FE33F3F9}">
      <dgm:prSet/>
      <dgm:spPr/>
      <dgm:t>
        <a:bodyPr/>
        <a:lstStyle/>
        <a:p>
          <a:endParaRPr lang="en-US"/>
        </a:p>
      </dgm:t>
    </dgm:pt>
    <dgm:pt modelId="{056D8221-5566-4D42-B083-031E9A98FEA3}" type="sibTrans" cxnId="{D3E739B4-D3EE-4E95-9426-6AE1FE33F3F9}">
      <dgm:prSet/>
      <dgm:spPr/>
      <dgm:t>
        <a:bodyPr/>
        <a:lstStyle/>
        <a:p>
          <a:endParaRPr lang="en-US"/>
        </a:p>
      </dgm:t>
    </dgm:pt>
    <dgm:pt modelId="{3F5D3085-D942-4970-B147-C5B393E6B1AD}" type="pres">
      <dgm:prSet presAssocID="{96929649-3A24-463A-BE8C-DF91B0088611}" presName="root" presStyleCnt="0">
        <dgm:presLayoutVars>
          <dgm:dir/>
          <dgm:resizeHandles val="exact"/>
        </dgm:presLayoutVars>
      </dgm:prSet>
      <dgm:spPr/>
    </dgm:pt>
    <dgm:pt modelId="{1E64EF25-98C3-47A3-80E6-C15EE73031BB}" type="pres">
      <dgm:prSet presAssocID="{D0901B13-ED46-4095-B92E-1B53D6308857}" presName="compNode" presStyleCnt="0"/>
      <dgm:spPr/>
    </dgm:pt>
    <dgm:pt modelId="{A28B7AA0-64DF-4FC2-A448-ABC2722E8A03}" type="pres">
      <dgm:prSet presAssocID="{D0901B13-ED46-4095-B92E-1B53D6308857}" presName="bgRect" presStyleLbl="bgShp" presStyleIdx="0" presStyleCnt="3"/>
      <dgm:spPr/>
    </dgm:pt>
    <dgm:pt modelId="{216126BA-474E-4B53-9A6A-74925C66D84A}" type="pres">
      <dgm:prSet presAssocID="{D0901B13-ED46-4095-B92E-1B53D630885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ead with Gears"/>
        </a:ext>
      </dgm:extLst>
    </dgm:pt>
    <dgm:pt modelId="{D997741A-06A0-4C81-902E-E8E01BD5977B}" type="pres">
      <dgm:prSet presAssocID="{D0901B13-ED46-4095-B92E-1B53D6308857}" presName="spaceRect" presStyleCnt="0"/>
      <dgm:spPr/>
    </dgm:pt>
    <dgm:pt modelId="{9FB889EE-E112-4636-B810-26970A443DE9}" type="pres">
      <dgm:prSet presAssocID="{D0901B13-ED46-4095-B92E-1B53D6308857}" presName="parTx" presStyleLbl="revTx" presStyleIdx="0" presStyleCnt="3">
        <dgm:presLayoutVars>
          <dgm:chMax val="0"/>
          <dgm:chPref val="0"/>
        </dgm:presLayoutVars>
      </dgm:prSet>
      <dgm:spPr/>
    </dgm:pt>
    <dgm:pt modelId="{E8DE8683-DC43-40B6-8DE7-9060F64F69A9}" type="pres">
      <dgm:prSet presAssocID="{0ED5E61E-93E3-486A-BD7B-BB64B9C9AEAB}" presName="sibTrans" presStyleCnt="0"/>
      <dgm:spPr/>
    </dgm:pt>
    <dgm:pt modelId="{E38CD4CC-2271-42A1-8C8C-F45AFAC7DED2}" type="pres">
      <dgm:prSet presAssocID="{9EF9BF82-C63F-4434-B26D-8661145DDA7D}" presName="compNode" presStyleCnt="0"/>
      <dgm:spPr/>
    </dgm:pt>
    <dgm:pt modelId="{4CBDDBA4-C503-4BAE-9677-23BD57EB43C1}" type="pres">
      <dgm:prSet presAssocID="{9EF9BF82-C63F-4434-B26D-8661145DDA7D}" presName="bgRect" presStyleLbl="bgShp" presStyleIdx="1" presStyleCnt="3"/>
      <dgm:spPr/>
    </dgm:pt>
    <dgm:pt modelId="{0520D5AA-3219-4BE3-B89A-376339490B92}" type="pres">
      <dgm:prSet presAssocID="{9EF9BF82-C63F-4434-B26D-8661145DDA7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EC28C4F3-1A87-4847-AE21-A7A5AD6165D9}" type="pres">
      <dgm:prSet presAssocID="{9EF9BF82-C63F-4434-B26D-8661145DDA7D}" presName="spaceRect" presStyleCnt="0"/>
      <dgm:spPr/>
    </dgm:pt>
    <dgm:pt modelId="{1D11010B-E57A-45E3-BA3B-DB3A4E5FE573}" type="pres">
      <dgm:prSet presAssocID="{9EF9BF82-C63F-4434-B26D-8661145DDA7D}" presName="parTx" presStyleLbl="revTx" presStyleIdx="1" presStyleCnt="3">
        <dgm:presLayoutVars>
          <dgm:chMax val="0"/>
          <dgm:chPref val="0"/>
        </dgm:presLayoutVars>
      </dgm:prSet>
      <dgm:spPr/>
    </dgm:pt>
    <dgm:pt modelId="{E964C6BE-E23D-4F25-B952-C2273003B93B}" type="pres">
      <dgm:prSet presAssocID="{00C7201F-1649-4BE9-BF8E-3BDD5B9E73C4}" presName="sibTrans" presStyleCnt="0"/>
      <dgm:spPr/>
    </dgm:pt>
    <dgm:pt modelId="{A7B2949C-E491-4AF7-A93E-45274FA6B213}" type="pres">
      <dgm:prSet presAssocID="{CAB6C9C3-61B7-4ABD-9D01-E4FDA155C6B1}" presName="compNode" presStyleCnt="0"/>
      <dgm:spPr/>
    </dgm:pt>
    <dgm:pt modelId="{CD7B6813-FE17-405D-9DEC-B0F939C95B38}" type="pres">
      <dgm:prSet presAssocID="{CAB6C9C3-61B7-4ABD-9D01-E4FDA155C6B1}" presName="bgRect" presStyleLbl="bgShp" presStyleIdx="2" presStyleCnt="3"/>
      <dgm:spPr/>
    </dgm:pt>
    <dgm:pt modelId="{2FF73C9D-DE19-408C-9EC5-DBD3F61A27D6}" type="pres">
      <dgm:prSet presAssocID="{CAB6C9C3-61B7-4ABD-9D01-E4FDA155C6B1}"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atabase"/>
        </a:ext>
      </dgm:extLst>
    </dgm:pt>
    <dgm:pt modelId="{57D368B3-5723-4F7D-9A14-30C8DA06226A}" type="pres">
      <dgm:prSet presAssocID="{CAB6C9C3-61B7-4ABD-9D01-E4FDA155C6B1}" presName="spaceRect" presStyleCnt="0"/>
      <dgm:spPr/>
    </dgm:pt>
    <dgm:pt modelId="{9FB5D69F-C3EB-44B4-AE29-BA846364A23C}" type="pres">
      <dgm:prSet presAssocID="{CAB6C9C3-61B7-4ABD-9D01-E4FDA155C6B1}" presName="parTx" presStyleLbl="revTx" presStyleIdx="2" presStyleCnt="3">
        <dgm:presLayoutVars>
          <dgm:chMax val="0"/>
          <dgm:chPref val="0"/>
        </dgm:presLayoutVars>
      </dgm:prSet>
      <dgm:spPr/>
    </dgm:pt>
  </dgm:ptLst>
  <dgm:cxnLst>
    <dgm:cxn modelId="{3A39C122-6FA3-4F4D-8BB2-B6A4DA33C094}" type="presOf" srcId="{9EF9BF82-C63F-4434-B26D-8661145DDA7D}" destId="{1D11010B-E57A-45E3-BA3B-DB3A4E5FE573}" srcOrd="0" destOrd="0" presId="urn:microsoft.com/office/officeart/2018/2/layout/IconVerticalSolidList"/>
    <dgm:cxn modelId="{DA0F6569-5597-4CBE-8372-62FE346DF8C3}" srcId="{96929649-3A24-463A-BE8C-DF91B0088611}" destId="{9EF9BF82-C63F-4434-B26D-8661145DDA7D}" srcOrd="1" destOrd="0" parTransId="{3A1F0D88-1464-40ED-919B-6D29DFB108DF}" sibTransId="{00C7201F-1649-4BE9-BF8E-3BDD5B9E73C4}"/>
    <dgm:cxn modelId="{5F76F073-4E93-4E2B-BB0C-2AC58BDB1907}" type="presOf" srcId="{D0901B13-ED46-4095-B92E-1B53D6308857}" destId="{9FB889EE-E112-4636-B810-26970A443DE9}" srcOrd="0" destOrd="0" presId="urn:microsoft.com/office/officeart/2018/2/layout/IconVerticalSolidList"/>
    <dgm:cxn modelId="{43C17C7D-B5BD-4EE4-8371-1D9E4163E16D}" srcId="{96929649-3A24-463A-BE8C-DF91B0088611}" destId="{D0901B13-ED46-4095-B92E-1B53D6308857}" srcOrd="0" destOrd="0" parTransId="{1E119850-AAED-4B8A-9AB6-99B34D37509A}" sibTransId="{0ED5E61E-93E3-486A-BD7B-BB64B9C9AEAB}"/>
    <dgm:cxn modelId="{A98C3687-19D2-4AD8-92E5-891AB4D3D14D}" type="presOf" srcId="{CAB6C9C3-61B7-4ABD-9D01-E4FDA155C6B1}" destId="{9FB5D69F-C3EB-44B4-AE29-BA846364A23C}" srcOrd="0" destOrd="0" presId="urn:microsoft.com/office/officeart/2018/2/layout/IconVerticalSolidList"/>
    <dgm:cxn modelId="{D3E739B4-D3EE-4E95-9426-6AE1FE33F3F9}" srcId="{96929649-3A24-463A-BE8C-DF91B0088611}" destId="{CAB6C9C3-61B7-4ABD-9D01-E4FDA155C6B1}" srcOrd="2" destOrd="0" parTransId="{2FCD5112-A0C2-4F8C-BBC8-7B7B261428F8}" sibTransId="{056D8221-5566-4D42-B083-031E9A98FEA3}"/>
    <dgm:cxn modelId="{BFB62CCE-0510-4A51-9E7C-D7C813CD31B9}" type="presOf" srcId="{96929649-3A24-463A-BE8C-DF91B0088611}" destId="{3F5D3085-D942-4970-B147-C5B393E6B1AD}" srcOrd="0" destOrd="0" presId="urn:microsoft.com/office/officeart/2018/2/layout/IconVerticalSolidList"/>
    <dgm:cxn modelId="{48F5C62F-6D83-40A3-996E-6BEEBD8E0D87}" type="presParOf" srcId="{3F5D3085-D942-4970-B147-C5B393E6B1AD}" destId="{1E64EF25-98C3-47A3-80E6-C15EE73031BB}" srcOrd="0" destOrd="0" presId="urn:microsoft.com/office/officeart/2018/2/layout/IconVerticalSolidList"/>
    <dgm:cxn modelId="{DB1241CA-686A-4F60-907B-E5961BDD4781}" type="presParOf" srcId="{1E64EF25-98C3-47A3-80E6-C15EE73031BB}" destId="{A28B7AA0-64DF-4FC2-A448-ABC2722E8A03}" srcOrd="0" destOrd="0" presId="urn:microsoft.com/office/officeart/2018/2/layout/IconVerticalSolidList"/>
    <dgm:cxn modelId="{D2446D48-B795-4514-8C29-E7C2BB62DCE0}" type="presParOf" srcId="{1E64EF25-98C3-47A3-80E6-C15EE73031BB}" destId="{216126BA-474E-4B53-9A6A-74925C66D84A}" srcOrd="1" destOrd="0" presId="urn:microsoft.com/office/officeart/2018/2/layout/IconVerticalSolidList"/>
    <dgm:cxn modelId="{CA67FB30-9441-47DD-AA2D-16CC91138E9A}" type="presParOf" srcId="{1E64EF25-98C3-47A3-80E6-C15EE73031BB}" destId="{D997741A-06A0-4C81-902E-E8E01BD5977B}" srcOrd="2" destOrd="0" presId="urn:microsoft.com/office/officeart/2018/2/layout/IconVerticalSolidList"/>
    <dgm:cxn modelId="{045F1885-06B3-493C-864E-5AB89F2D80B0}" type="presParOf" srcId="{1E64EF25-98C3-47A3-80E6-C15EE73031BB}" destId="{9FB889EE-E112-4636-B810-26970A443DE9}" srcOrd="3" destOrd="0" presId="urn:microsoft.com/office/officeart/2018/2/layout/IconVerticalSolidList"/>
    <dgm:cxn modelId="{CAD844EF-0017-41BA-B771-D0AD74AD2144}" type="presParOf" srcId="{3F5D3085-D942-4970-B147-C5B393E6B1AD}" destId="{E8DE8683-DC43-40B6-8DE7-9060F64F69A9}" srcOrd="1" destOrd="0" presId="urn:microsoft.com/office/officeart/2018/2/layout/IconVerticalSolidList"/>
    <dgm:cxn modelId="{4990D686-DB48-491B-ACE0-73B5F1877F25}" type="presParOf" srcId="{3F5D3085-D942-4970-B147-C5B393E6B1AD}" destId="{E38CD4CC-2271-42A1-8C8C-F45AFAC7DED2}" srcOrd="2" destOrd="0" presId="urn:microsoft.com/office/officeart/2018/2/layout/IconVerticalSolidList"/>
    <dgm:cxn modelId="{C96ECCCC-82DC-4418-85FD-C690D2C8D8CC}" type="presParOf" srcId="{E38CD4CC-2271-42A1-8C8C-F45AFAC7DED2}" destId="{4CBDDBA4-C503-4BAE-9677-23BD57EB43C1}" srcOrd="0" destOrd="0" presId="urn:microsoft.com/office/officeart/2018/2/layout/IconVerticalSolidList"/>
    <dgm:cxn modelId="{76230727-D70C-4B51-A251-97615AA99684}" type="presParOf" srcId="{E38CD4CC-2271-42A1-8C8C-F45AFAC7DED2}" destId="{0520D5AA-3219-4BE3-B89A-376339490B92}" srcOrd="1" destOrd="0" presId="urn:microsoft.com/office/officeart/2018/2/layout/IconVerticalSolidList"/>
    <dgm:cxn modelId="{4B5D3B2B-14F6-4E98-BD0E-C001457DBDC2}" type="presParOf" srcId="{E38CD4CC-2271-42A1-8C8C-F45AFAC7DED2}" destId="{EC28C4F3-1A87-4847-AE21-A7A5AD6165D9}" srcOrd="2" destOrd="0" presId="urn:microsoft.com/office/officeart/2018/2/layout/IconVerticalSolidList"/>
    <dgm:cxn modelId="{AB3A3FE7-3ADC-4154-906A-124C6BC71D2C}" type="presParOf" srcId="{E38CD4CC-2271-42A1-8C8C-F45AFAC7DED2}" destId="{1D11010B-E57A-45E3-BA3B-DB3A4E5FE573}" srcOrd="3" destOrd="0" presId="urn:microsoft.com/office/officeart/2018/2/layout/IconVerticalSolidList"/>
    <dgm:cxn modelId="{CA8FCAF0-21C9-4A12-9D27-1BC7E19A6810}" type="presParOf" srcId="{3F5D3085-D942-4970-B147-C5B393E6B1AD}" destId="{E964C6BE-E23D-4F25-B952-C2273003B93B}" srcOrd="3" destOrd="0" presId="urn:microsoft.com/office/officeart/2018/2/layout/IconVerticalSolidList"/>
    <dgm:cxn modelId="{55DC1C76-05E1-4A8E-A9BE-D91BB3CDFA93}" type="presParOf" srcId="{3F5D3085-D942-4970-B147-C5B393E6B1AD}" destId="{A7B2949C-E491-4AF7-A93E-45274FA6B213}" srcOrd="4" destOrd="0" presId="urn:microsoft.com/office/officeart/2018/2/layout/IconVerticalSolidList"/>
    <dgm:cxn modelId="{352FCE74-AF8A-4FBC-A3DE-B6AF97B10E19}" type="presParOf" srcId="{A7B2949C-E491-4AF7-A93E-45274FA6B213}" destId="{CD7B6813-FE17-405D-9DEC-B0F939C95B38}" srcOrd="0" destOrd="0" presId="urn:microsoft.com/office/officeart/2018/2/layout/IconVerticalSolidList"/>
    <dgm:cxn modelId="{0FF625A5-31A9-4878-8A67-A3B5F69DCE1E}" type="presParOf" srcId="{A7B2949C-E491-4AF7-A93E-45274FA6B213}" destId="{2FF73C9D-DE19-408C-9EC5-DBD3F61A27D6}" srcOrd="1" destOrd="0" presId="urn:microsoft.com/office/officeart/2018/2/layout/IconVerticalSolidList"/>
    <dgm:cxn modelId="{60C16F7C-63C0-436B-98F8-AB4963FC8C80}" type="presParOf" srcId="{A7B2949C-E491-4AF7-A93E-45274FA6B213}" destId="{57D368B3-5723-4F7D-9A14-30C8DA06226A}" srcOrd="2" destOrd="0" presId="urn:microsoft.com/office/officeart/2018/2/layout/IconVerticalSolidList"/>
    <dgm:cxn modelId="{FFA32796-D3B7-4B1A-B215-A888BCD6FD45}" type="presParOf" srcId="{A7B2949C-E491-4AF7-A93E-45274FA6B213}" destId="{9FB5D69F-C3EB-44B4-AE29-BA846364A23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8B7AA0-64DF-4FC2-A448-ABC2722E8A03}">
      <dsp:nvSpPr>
        <dsp:cNvPr id="0" name=""/>
        <dsp:cNvSpPr/>
      </dsp:nvSpPr>
      <dsp:spPr>
        <a:xfrm>
          <a:off x="0" y="3650"/>
          <a:ext cx="10515600" cy="12504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6126BA-474E-4B53-9A6A-74925C66D84A}">
      <dsp:nvSpPr>
        <dsp:cNvPr id="0" name=""/>
        <dsp:cNvSpPr/>
      </dsp:nvSpPr>
      <dsp:spPr>
        <a:xfrm>
          <a:off x="378260" y="285001"/>
          <a:ext cx="688419" cy="6877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B889EE-E112-4636-B810-26970A443DE9}">
      <dsp:nvSpPr>
        <dsp:cNvPr id="0" name=""/>
        <dsp:cNvSpPr/>
      </dsp:nvSpPr>
      <dsp:spPr>
        <a:xfrm>
          <a:off x="1444941" y="3650"/>
          <a:ext cx="8994754" cy="1251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469" tIns="132469" rIns="132469" bIns="132469" numCol="1" spcCol="1270" anchor="ctr" anchorCtr="0">
          <a:noAutofit/>
        </a:bodyPr>
        <a:lstStyle/>
        <a:p>
          <a:pPr marL="0" lvl="0" indent="0" algn="l" defTabSz="622300">
            <a:lnSpc>
              <a:spcPct val="100000"/>
            </a:lnSpc>
            <a:spcBef>
              <a:spcPct val="0"/>
            </a:spcBef>
            <a:spcAft>
              <a:spcPct val="35000"/>
            </a:spcAft>
            <a:buNone/>
          </a:pPr>
          <a:r>
            <a:rPr lang="en-US" sz="1400" kern="1200"/>
            <a:t>The project focuses on studying the impact of AI tools, especially ChatGPT, on developer productivity. The main aim is to understand how the use of AI influences the way developers work and perform their tasks in real-world situations. To achieve this, we used two different datasets: one containing sentiment data from tweets about ChatGPT, and another containing developer productivity data such as AI usage hours, coding hours, sleep hours, and commits.</a:t>
          </a:r>
        </a:p>
      </dsp:txBody>
      <dsp:txXfrm>
        <a:off x="1444941" y="3650"/>
        <a:ext cx="8994754" cy="1251671"/>
      </dsp:txXfrm>
    </dsp:sp>
    <dsp:sp modelId="{4CBDDBA4-C503-4BAE-9677-23BD57EB43C1}">
      <dsp:nvSpPr>
        <dsp:cNvPr id="0" name=""/>
        <dsp:cNvSpPr/>
      </dsp:nvSpPr>
      <dsp:spPr>
        <a:xfrm>
          <a:off x="0" y="1549833"/>
          <a:ext cx="10515600" cy="12504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20D5AA-3219-4BE3-B89A-376339490B92}">
      <dsp:nvSpPr>
        <dsp:cNvPr id="0" name=""/>
        <dsp:cNvSpPr/>
      </dsp:nvSpPr>
      <dsp:spPr>
        <a:xfrm>
          <a:off x="378260" y="1831184"/>
          <a:ext cx="688419" cy="6877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11010B-E57A-45E3-BA3B-DB3A4E5FE573}">
      <dsp:nvSpPr>
        <dsp:cNvPr id="0" name=""/>
        <dsp:cNvSpPr/>
      </dsp:nvSpPr>
      <dsp:spPr>
        <a:xfrm>
          <a:off x="1444941" y="1549833"/>
          <a:ext cx="8994754" cy="1251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469" tIns="132469" rIns="132469" bIns="132469" numCol="1" spcCol="1270" anchor="ctr" anchorCtr="0">
          <a:noAutofit/>
        </a:bodyPr>
        <a:lstStyle/>
        <a:p>
          <a:pPr marL="0" lvl="0" indent="0" algn="l" defTabSz="622300">
            <a:lnSpc>
              <a:spcPct val="100000"/>
            </a:lnSpc>
            <a:spcBef>
              <a:spcPct val="0"/>
            </a:spcBef>
            <a:spcAft>
              <a:spcPct val="35000"/>
            </a:spcAft>
            <a:buNone/>
          </a:pPr>
          <a:r>
            <a:rPr lang="en-US" sz="1400" kern="1200"/>
            <a:t>We analyzed real-world developer behavior by combining insights from both datasets. Before performing the analysis, we applied data preprocessing techniques such as cleaning the data, handling missing values, and standardizing the format to ensure accuracy. After preprocessing, we performed exploratory data analysis to identify patterns, trends, and relationships between different variables.</a:t>
          </a:r>
        </a:p>
      </dsp:txBody>
      <dsp:txXfrm>
        <a:off x="1444941" y="1549833"/>
        <a:ext cx="8994754" cy="1251671"/>
      </dsp:txXfrm>
    </dsp:sp>
    <dsp:sp modelId="{CD7B6813-FE17-405D-9DEC-B0F939C95B38}">
      <dsp:nvSpPr>
        <dsp:cNvPr id="0" name=""/>
        <dsp:cNvSpPr/>
      </dsp:nvSpPr>
      <dsp:spPr>
        <a:xfrm>
          <a:off x="0" y="3096015"/>
          <a:ext cx="10515600" cy="12504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F73C9D-DE19-408C-9EC5-DBD3F61A27D6}">
      <dsp:nvSpPr>
        <dsp:cNvPr id="0" name=""/>
        <dsp:cNvSpPr/>
      </dsp:nvSpPr>
      <dsp:spPr>
        <a:xfrm>
          <a:off x="378260" y="3377367"/>
          <a:ext cx="688419" cy="6877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B5D69F-C3EB-44B4-AE29-BA846364A23C}">
      <dsp:nvSpPr>
        <dsp:cNvPr id="0" name=""/>
        <dsp:cNvSpPr/>
      </dsp:nvSpPr>
      <dsp:spPr>
        <a:xfrm>
          <a:off x="1444941" y="3096015"/>
          <a:ext cx="8994754" cy="12516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469" tIns="132469" rIns="132469" bIns="132469" numCol="1" spcCol="1270" anchor="ctr" anchorCtr="0">
          <a:noAutofit/>
        </a:bodyPr>
        <a:lstStyle/>
        <a:p>
          <a:pPr marL="0" lvl="0" indent="0" algn="l" defTabSz="622300">
            <a:lnSpc>
              <a:spcPct val="100000"/>
            </a:lnSpc>
            <a:spcBef>
              <a:spcPct val="0"/>
            </a:spcBef>
            <a:spcAft>
              <a:spcPct val="35000"/>
            </a:spcAft>
            <a:buNone/>
          </a:pPr>
          <a:r>
            <a:rPr lang="en-US" sz="1400" kern="1200"/>
            <a:t>We also applied machine learning models to better understand and predict developer productivity based on different factors. Finally, we created an interactive Power BI dashboard to visualize the results and generate meaningful insights. This overall approach helps us understand how AI tools like ChatGPT affect productivity and efficiency in modern development environments.</a:t>
          </a:r>
        </a:p>
      </dsp:txBody>
      <dsp:txXfrm>
        <a:off x="1444941" y="3096015"/>
        <a:ext cx="8994754" cy="125167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97762" y="640080"/>
            <a:ext cx="6251110" cy="3566160"/>
          </a:xfrm>
        </p:spPr>
        <p:txBody>
          <a:bodyPr anchor="b">
            <a:normAutofit/>
          </a:bodyPr>
          <a:lstStyle/>
          <a:p>
            <a:pPr algn="l"/>
            <a:r>
              <a:rPr lang="en-US" sz="5000">
                <a:latin typeface="Calibri"/>
                <a:ea typeface="Calibri"/>
                <a:cs typeface="Calibri"/>
              </a:rPr>
              <a:t>Impact of AI Usage on DeveloperProductivity</a:t>
            </a:r>
            <a:endParaRPr lang="en-US" sz="5000"/>
          </a:p>
        </p:txBody>
      </p:sp>
      <p:sp>
        <p:nvSpPr>
          <p:cNvPr id="3" name="Subtitle 2"/>
          <p:cNvSpPr>
            <a:spLocks noGrp="1"/>
          </p:cNvSpPr>
          <p:nvPr>
            <p:ph type="subTitle" idx="1"/>
          </p:nvPr>
        </p:nvSpPr>
        <p:spPr>
          <a:xfrm>
            <a:off x="5297760" y="4636008"/>
            <a:ext cx="6251111" cy="1572768"/>
          </a:xfrm>
        </p:spPr>
        <p:txBody>
          <a:bodyPr vert="horz" lIns="91440" tIns="45720" rIns="91440" bIns="45720" rtlCol="0" anchor="t">
            <a:normAutofit/>
          </a:bodyPr>
          <a:lstStyle/>
          <a:p>
            <a:pPr algn="l">
              <a:spcBef>
                <a:spcPct val="20000"/>
              </a:spcBef>
            </a:pPr>
            <a:r>
              <a:rPr lang="en-US" dirty="0"/>
              <a:t>Team Members: </a:t>
            </a:r>
            <a:r>
              <a:rPr lang="en-US" dirty="0">
                <a:latin typeface="Calibri"/>
                <a:ea typeface="Calibri"/>
                <a:cs typeface="Calibri"/>
              </a:rPr>
              <a:t>Nitul Patel</a:t>
            </a:r>
          </a:p>
          <a:p>
            <a:pPr algn="l">
              <a:spcBef>
                <a:spcPct val="20000"/>
              </a:spcBef>
            </a:pPr>
            <a:r>
              <a:rPr lang="en-US" dirty="0">
                <a:latin typeface="Calibri"/>
                <a:ea typeface="Calibri"/>
                <a:cs typeface="Calibri"/>
              </a:rPr>
              <a:t>                                    Nikhil Patel</a:t>
            </a:r>
            <a:endParaRPr lang="en-US" dirty="0"/>
          </a:p>
        </p:txBody>
      </p:sp>
      <p:pic>
        <p:nvPicPr>
          <p:cNvPr id="5" name="Picture 4" descr="Color-coded on electronic circuit board">
            <a:extLst>
              <a:ext uri="{FF2B5EF4-FFF2-40B4-BE49-F238E27FC236}">
                <a16:creationId xmlns:a16="http://schemas.microsoft.com/office/drawing/2014/main" id="{F4B5BFDB-B0B5-F308-C775-707851C72CE7}"/>
              </a:ext>
            </a:extLst>
          </p:cNvPr>
          <p:cNvPicPr>
            <a:picLocks noChangeAspect="1"/>
          </p:cNvPicPr>
          <p:nvPr/>
        </p:nvPicPr>
        <p:blipFill>
          <a:blip r:embed="rId2"/>
          <a:srcRect l="40582" r="14458" b="10"/>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FC439-1251-E0D6-CFDF-C2E1B6C3048C}"/>
              </a:ext>
            </a:extLst>
          </p:cNvPr>
          <p:cNvSpPr>
            <a:spLocks noGrp="1"/>
          </p:cNvSpPr>
          <p:nvPr>
            <p:ph type="title"/>
          </p:nvPr>
        </p:nvSpPr>
        <p:spPr/>
        <p:txBody>
          <a:bodyPr/>
          <a:lstStyle/>
          <a:p>
            <a:r>
              <a:rPr lang="en-US"/>
              <a:t>Project overview</a:t>
            </a:r>
            <a:endParaRPr lang="en-US" dirty="0"/>
          </a:p>
        </p:txBody>
      </p:sp>
      <p:graphicFrame>
        <p:nvGraphicFramePr>
          <p:cNvPr id="22" name="Content Placeholder 2">
            <a:extLst>
              <a:ext uri="{FF2B5EF4-FFF2-40B4-BE49-F238E27FC236}">
                <a16:creationId xmlns:a16="http://schemas.microsoft.com/office/drawing/2014/main" id="{1AB13F8E-C1D7-5AF1-C18E-CD717DD1D10F}"/>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4251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1F4FBF-A5E1-556D-D101-298120D3BE68}"/>
              </a:ext>
            </a:extLst>
          </p:cNvPr>
          <p:cNvSpPr>
            <a:spLocks noGrp="1"/>
          </p:cNvSpPr>
          <p:nvPr>
            <p:ph type="title"/>
          </p:nvPr>
        </p:nvSpPr>
        <p:spPr>
          <a:xfrm>
            <a:off x="838200" y="365125"/>
            <a:ext cx="10515600" cy="1325563"/>
          </a:xfrm>
        </p:spPr>
        <p:txBody>
          <a:bodyPr>
            <a:normAutofit/>
          </a:bodyPr>
          <a:lstStyle/>
          <a:p>
            <a:r>
              <a:rPr lang="en-US" sz="4600">
                <a:ea typeface="+mj-lt"/>
                <a:cs typeface="+mj-lt"/>
              </a:rPr>
              <a:t>Milestone 1 – Planning &amp; Data Collection</a:t>
            </a:r>
            <a:endParaRPr lang="en-US" sz="4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994E152-53F8-08EE-E1DB-06DCC365179A}"/>
              </a:ext>
            </a:extLst>
          </p:cNvPr>
          <p:cNvSpPr>
            <a:spLocks noGrp="1"/>
          </p:cNvSpPr>
          <p:nvPr>
            <p:ph idx="1"/>
          </p:nvPr>
        </p:nvSpPr>
        <p:spPr>
          <a:xfrm>
            <a:off x="838200" y="1929384"/>
            <a:ext cx="10515600" cy="4251960"/>
          </a:xfrm>
        </p:spPr>
        <p:txBody>
          <a:bodyPr vert="horz" lIns="91440" tIns="45720" rIns="91440" bIns="45720" rtlCol="0">
            <a:normAutofit/>
          </a:bodyPr>
          <a:lstStyle/>
          <a:p>
            <a:r>
              <a:rPr lang="en-US" sz="1500">
                <a:ea typeface="+mn-lt"/>
                <a:cs typeface="+mn-lt"/>
              </a:rPr>
              <a:t>Project Planning and Objective Definition</a:t>
            </a:r>
            <a:endParaRPr lang="en-US" sz="1500"/>
          </a:p>
          <a:p>
            <a:pPr marL="0" indent="0">
              <a:buNone/>
            </a:pPr>
            <a:r>
              <a:rPr lang="en-US" sz="1500">
                <a:ea typeface="+mn-lt"/>
                <a:cs typeface="+mn-lt"/>
              </a:rPr>
              <a:t>In the first milestone, we focused on planning and data collection for the project. We started by selecting a topic related to AI tools and their impact on developer productivity. After choosing the topic, we clearly defined the project objective, which is to understand how AI usage and user sentiment influence developer performance. We also identified the main research problem, which is to analyze whether the use of AI tools like ChatGPT leads to improved productivity.</a:t>
            </a:r>
            <a:endParaRPr lang="en-US" sz="1500"/>
          </a:p>
          <a:p>
            <a:r>
              <a:rPr lang="en-US" sz="1500">
                <a:ea typeface="+mn-lt"/>
                <a:cs typeface="+mn-lt"/>
              </a:rPr>
              <a:t>Dataset Selection</a:t>
            </a:r>
            <a:endParaRPr lang="en-US" sz="1500"/>
          </a:p>
          <a:p>
            <a:pPr marL="0" indent="0">
              <a:buNone/>
            </a:pPr>
            <a:r>
              <a:rPr lang="en-US" sz="1500">
                <a:ea typeface="+mn-lt"/>
                <a:cs typeface="+mn-lt"/>
              </a:rPr>
              <a:t>Next, we selected two datasets for our analysis. The primary dataset consists of tweets related to ChatGPT, which includes user opinions and sentiment labels such as positive, negative, and neutral. The secondary dataset contains developer  productivity data, including variables like AI usage hours, coding hours, sleep hours, and commits.</a:t>
            </a:r>
            <a:endParaRPr lang="en-US" sz="1500"/>
          </a:p>
          <a:p>
            <a:r>
              <a:rPr lang="en-US" sz="1500">
                <a:ea typeface="+mn-lt"/>
                <a:cs typeface="+mn-lt"/>
              </a:rPr>
              <a:t>Hypothesis and Project Planning</a:t>
            </a:r>
          </a:p>
          <a:p>
            <a:pPr marL="0" indent="0">
              <a:buNone/>
            </a:pPr>
            <a:r>
              <a:rPr lang="en-US" sz="1500">
                <a:ea typeface="+mn-lt"/>
                <a:cs typeface="+mn-lt"/>
              </a:rPr>
              <a:t>We then defined a hypothesis stating that positive sentiment toward ChatGPT is associated with higher productivity and better performance. In addition, we identified the target audience, which includes developers, students, and organizations interested in AI tools. Finally, we planned the overall project structure, including data preprocessing, analysis, machine learning, and visualization steps to ensure a smooth workflow throughout the project.</a:t>
            </a:r>
            <a:endParaRPr lang="en-US" sz="1500"/>
          </a:p>
          <a:p>
            <a:endParaRPr lang="en-US" sz="1500"/>
          </a:p>
        </p:txBody>
      </p:sp>
    </p:spTree>
    <p:extLst>
      <p:ext uri="{BB962C8B-B14F-4D97-AF65-F5344CB8AC3E}">
        <p14:creationId xmlns:p14="http://schemas.microsoft.com/office/powerpoint/2010/main" val="1847239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E29660-DAE5-3BA5-13C5-3B5DB3DFCC2E}"/>
              </a:ext>
            </a:extLst>
          </p:cNvPr>
          <p:cNvSpPr>
            <a:spLocks noGrp="1"/>
          </p:cNvSpPr>
          <p:nvPr>
            <p:ph type="title"/>
          </p:nvPr>
        </p:nvSpPr>
        <p:spPr>
          <a:xfrm>
            <a:off x="686834" y="1153572"/>
            <a:ext cx="3200400" cy="4461163"/>
          </a:xfrm>
        </p:spPr>
        <p:txBody>
          <a:bodyPr>
            <a:normAutofit/>
          </a:bodyPr>
          <a:lstStyle/>
          <a:p>
            <a:r>
              <a:rPr lang="en-US">
                <a:solidFill>
                  <a:srgbClr val="FFFFFF"/>
                </a:solidFill>
              </a:rPr>
              <a:t>Dataset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6B9E5F1-5A8B-16DB-53CC-55B5FD3A411F}"/>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US" sz="1800">
                <a:ea typeface="+mn-lt"/>
                <a:cs typeface="+mn-lt"/>
              </a:rPr>
              <a:t>Primary Dataset (Sentiment Data)</a:t>
            </a:r>
            <a:endParaRPr lang="en-US" sz="1800"/>
          </a:p>
          <a:p>
            <a:pPr marL="0" indent="0">
              <a:buNone/>
            </a:pPr>
            <a:r>
              <a:rPr lang="en-US" sz="1800">
                <a:ea typeface="+mn-lt"/>
                <a:cs typeface="+mn-lt"/>
              </a:rPr>
              <a:t>In this project, we used a primary dataset that consists of tweets related to ChatGPT and other AI tools. These tweets include sentiment labels such as positive, negative, and neutral, which help us understand user opinions and perceptions about AI technologies. This dataset is useful for analyzing how people feel about ChatGPT and how their sentiment may influence its usage.</a:t>
            </a:r>
            <a:endParaRPr lang="en-US" sz="1800"/>
          </a:p>
          <a:p>
            <a:r>
              <a:rPr lang="en-US" sz="1800">
                <a:ea typeface="+mn-lt"/>
                <a:cs typeface="+mn-lt"/>
              </a:rPr>
              <a:t>Secondary Dataset (Developer Productivity Data)</a:t>
            </a:r>
            <a:endParaRPr lang="en-US" sz="1800"/>
          </a:p>
          <a:p>
            <a:pPr marL="0" indent="0">
              <a:buNone/>
            </a:pPr>
            <a:r>
              <a:rPr lang="en-US" sz="1800">
                <a:ea typeface="+mn-lt"/>
                <a:cs typeface="+mn-lt"/>
              </a:rPr>
              <a:t>The secondary dataset contains developer productivity metrics, which provide information about how developers work and perform their tasks. It includes important variables such as AI usage hours, coding hours, sleep hours, and the number of commits, which is used as a measure of productivity. These features help us analyze how different factors affect developer performance.</a:t>
            </a:r>
            <a:endParaRPr lang="en-US" sz="1800"/>
          </a:p>
          <a:p>
            <a:r>
              <a:rPr lang="en-US" sz="1800">
                <a:ea typeface="+mn-lt"/>
                <a:cs typeface="+mn-lt"/>
              </a:rPr>
              <a:t>Data Source and Importance</a:t>
            </a:r>
            <a:endParaRPr lang="en-US" sz="1800"/>
          </a:p>
          <a:p>
            <a:pPr marL="0" indent="0">
              <a:buNone/>
            </a:pPr>
            <a:r>
              <a:rPr lang="en-US" sz="1800">
                <a:ea typeface="+mn-lt"/>
                <a:cs typeface="+mn-lt"/>
              </a:rPr>
              <a:t>Both datasets were collected using APIs, which allowed us to gather real-world data. By combining these datasets, we can analyze trends, identify relationships, and understand how user sentiment and AI usage impact developer productivity in practical scenarios.</a:t>
            </a:r>
            <a:endParaRPr lang="en-US" sz="1800"/>
          </a:p>
          <a:p>
            <a:endParaRPr lang="en-US" sz="1800"/>
          </a:p>
        </p:txBody>
      </p:sp>
    </p:spTree>
    <p:extLst>
      <p:ext uri="{BB962C8B-B14F-4D97-AF65-F5344CB8AC3E}">
        <p14:creationId xmlns:p14="http://schemas.microsoft.com/office/powerpoint/2010/main" val="3185907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1CADCF-9F56-DA96-BF8B-09030D1C2EB8}"/>
              </a:ext>
            </a:extLst>
          </p:cNvPr>
          <p:cNvSpPr>
            <a:spLocks noGrp="1"/>
          </p:cNvSpPr>
          <p:nvPr>
            <p:ph type="title"/>
          </p:nvPr>
        </p:nvSpPr>
        <p:spPr>
          <a:xfrm>
            <a:off x="1171074" y="1396686"/>
            <a:ext cx="3240506" cy="4064628"/>
          </a:xfrm>
        </p:spPr>
        <p:txBody>
          <a:bodyPr>
            <a:normAutofit/>
          </a:bodyPr>
          <a:lstStyle/>
          <a:p>
            <a:r>
              <a:rPr lang="en-US">
                <a:solidFill>
                  <a:srgbClr val="FFFFFF"/>
                </a:solidFill>
              </a:rPr>
              <a:t>Data Prepocessing</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5CA57B0-93BB-BFA0-050D-9E81A563F1E7}"/>
              </a:ext>
            </a:extLst>
          </p:cNvPr>
          <p:cNvSpPr>
            <a:spLocks noGrp="1"/>
          </p:cNvSpPr>
          <p:nvPr>
            <p:ph idx="1"/>
          </p:nvPr>
        </p:nvSpPr>
        <p:spPr>
          <a:xfrm>
            <a:off x="5370153" y="1526033"/>
            <a:ext cx="5536397" cy="3935281"/>
          </a:xfrm>
        </p:spPr>
        <p:txBody>
          <a:bodyPr vert="horz" lIns="91440" tIns="45720" rIns="91440" bIns="45720" rtlCol="0">
            <a:normAutofit/>
          </a:bodyPr>
          <a:lstStyle/>
          <a:p>
            <a:r>
              <a:rPr lang="en-US" sz="1300">
                <a:ea typeface="+mn-lt"/>
                <a:cs typeface="+mn-lt"/>
              </a:rPr>
              <a:t>Data Cleaning Process</a:t>
            </a:r>
            <a:endParaRPr lang="en-US" sz="1300"/>
          </a:p>
          <a:p>
            <a:r>
              <a:rPr lang="en-US" sz="1300">
                <a:ea typeface="+mn-lt"/>
                <a:cs typeface="+mn-lt"/>
              </a:rPr>
              <a:t>Handling Missing and Incorrect Data</a:t>
            </a:r>
            <a:endParaRPr lang="en-US" sz="1300"/>
          </a:p>
          <a:p>
            <a:r>
              <a:rPr lang="en-US" sz="1300">
                <a:ea typeface="+mn-lt"/>
                <a:cs typeface="+mn-lt"/>
              </a:rPr>
              <a:t>In this stage, we focused on improving the quality of the dataset by handling missing and incorrect values. We identified null values and removed or replaced them to ensure the dataset is complete and reliable. We also checked for incorrect or inconsistent entries and corrected them to maintain accuracy.</a:t>
            </a:r>
            <a:endParaRPr lang="en-US" sz="1300"/>
          </a:p>
          <a:p>
            <a:r>
              <a:rPr lang="en-US" sz="1300">
                <a:ea typeface="+mn-lt"/>
                <a:cs typeface="+mn-lt"/>
              </a:rPr>
              <a:t>Removing Duplicates and Noise</a:t>
            </a:r>
            <a:endParaRPr lang="en-US" sz="1300"/>
          </a:p>
          <a:p>
            <a:r>
              <a:rPr lang="en-US" sz="1300">
                <a:ea typeface="+mn-lt"/>
                <a:cs typeface="+mn-lt"/>
              </a:rPr>
              <a:t>We removed duplicate records from the dataset to avoid repeated information that could affect the analysis. This step helps in reducing bias and ensures that each data point is unique and meaningful.</a:t>
            </a:r>
            <a:endParaRPr lang="en-US" sz="1300"/>
          </a:p>
          <a:p>
            <a:r>
              <a:rPr lang="en-US" sz="1300">
                <a:ea typeface="+mn-lt"/>
                <a:cs typeface="+mn-lt"/>
              </a:rPr>
              <a:t>Cleaning Text Data (Tweets)</a:t>
            </a:r>
            <a:endParaRPr lang="en-US" sz="1300"/>
          </a:p>
          <a:p>
            <a:r>
              <a:rPr lang="en-US" sz="1300">
                <a:ea typeface="+mn-lt"/>
                <a:cs typeface="+mn-lt"/>
              </a:rPr>
              <a:t>For the primary dataset, we cleaned the tweet text by removing unnecessary characters such as symbols, links, and extra spaces. This helps in making the text data more structured and suitable for analysis.</a:t>
            </a:r>
            <a:endParaRPr lang="en-US" sz="1300"/>
          </a:p>
          <a:p>
            <a:endParaRPr lang="en-US" sz="1300"/>
          </a:p>
        </p:txBody>
      </p:sp>
    </p:spTree>
    <p:extLst>
      <p:ext uri="{BB962C8B-B14F-4D97-AF65-F5344CB8AC3E}">
        <p14:creationId xmlns:p14="http://schemas.microsoft.com/office/powerpoint/2010/main" val="3125691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B7EE1C-8B4C-1122-0C55-9C1B51AD6ADC}"/>
              </a:ext>
            </a:extLst>
          </p:cNvPr>
          <p:cNvSpPr>
            <a:spLocks noGrp="1"/>
          </p:cNvSpPr>
          <p:nvPr>
            <p:ph type="title"/>
          </p:nvPr>
        </p:nvSpPr>
        <p:spPr>
          <a:xfrm>
            <a:off x="129366" y="639520"/>
            <a:ext cx="4731153" cy="2452135"/>
          </a:xfrm>
        </p:spPr>
        <p:txBody>
          <a:bodyPr anchor="b">
            <a:normAutofit/>
          </a:bodyPr>
          <a:lstStyle/>
          <a:p>
            <a:pPr marL="228600" indent="-228600">
              <a:spcBef>
                <a:spcPts val="1000"/>
              </a:spcBef>
            </a:pPr>
            <a:r>
              <a:rPr lang="en-US" sz="3200">
                <a:latin typeface="Aptos"/>
              </a:rPr>
              <a:t>Data Cleaning Process</a:t>
            </a:r>
          </a:p>
          <a:p>
            <a:endParaRPr lang="en-US" sz="5400" dirty="0"/>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D8FDE9B0-D577-7FC1-50EE-DCA547FFDE23}"/>
              </a:ext>
            </a:extLst>
          </p:cNvPr>
          <p:cNvPicPr>
            <a:picLocks noChangeAspect="1"/>
          </p:cNvPicPr>
          <p:nvPr/>
        </p:nvPicPr>
        <p:blipFill>
          <a:blip r:embed="rId2"/>
          <a:stretch>
            <a:fillRect/>
          </a:stretch>
        </p:blipFill>
        <p:spPr>
          <a:xfrm>
            <a:off x="4654296" y="788327"/>
            <a:ext cx="6903720" cy="5281345"/>
          </a:xfrm>
          <a:prstGeom prst="rect">
            <a:avLst/>
          </a:prstGeom>
        </p:spPr>
      </p:pic>
    </p:spTree>
    <p:extLst>
      <p:ext uri="{BB962C8B-B14F-4D97-AF65-F5344CB8AC3E}">
        <p14:creationId xmlns:p14="http://schemas.microsoft.com/office/powerpoint/2010/main" val="1390928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B4BC03-663C-2D1E-F669-6A0EFCC5CE69}"/>
              </a:ext>
            </a:extLst>
          </p:cNvPr>
          <p:cNvSpPr>
            <a:spLocks noGrp="1"/>
          </p:cNvSpPr>
          <p:nvPr>
            <p:ph type="title"/>
          </p:nvPr>
        </p:nvSpPr>
        <p:spPr>
          <a:xfrm>
            <a:off x="686834" y="1153572"/>
            <a:ext cx="3200400" cy="4461163"/>
          </a:xfrm>
        </p:spPr>
        <p:txBody>
          <a:bodyPr>
            <a:normAutofit/>
          </a:bodyPr>
          <a:lstStyle/>
          <a:p>
            <a:r>
              <a:rPr lang="en-US" sz="3400">
                <a:solidFill>
                  <a:srgbClr val="FFFFFF"/>
                </a:solidFill>
                <a:latin typeface="Aptos"/>
              </a:rPr>
              <a:t>Data Preparation and Transformation</a:t>
            </a:r>
            <a:endParaRPr lang="en-US" sz="34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1BA6F70-1AAE-69F8-8FDF-750DC412F04B}"/>
              </a:ext>
            </a:extLst>
          </p:cNvPr>
          <p:cNvSpPr>
            <a:spLocks noGrp="1"/>
          </p:cNvSpPr>
          <p:nvPr>
            <p:ph idx="1"/>
          </p:nvPr>
        </p:nvSpPr>
        <p:spPr>
          <a:xfrm>
            <a:off x="4447308" y="591344"/>
            <a:ext cx="6906491" cy="5585619"/>
          </a:xfrm>
        </p:spPr>
        <p:txBody>
          <a:bodyPr vert="horz" lIns="91440" tIns="45720" rIns="91440" bIns="45720" rtlCol="0" anchor="ctr">
            <a:normAutofit/>
          </a:bodyPr>
          <a:lstStyle/>
          <a:p>
            <a:endParaRPr lang="en-US" sz="1600" dirty="0"/>
          </a:p>
          <a:p>
            <a:r>
              <a:rPr lang="en-US" sz="1600">
                <a:ea typeface="+mn-lt"/>
                <a:cs typeface="+mn-lt"/>
              </a:rPr>
              <a:t>Standardizing Sentiment Labels</a:t>
            </a:r>
            <a:endParaRPr lang="en-US" sz="1600" dirty="0"/>
          </a:p>
          <a:p>
            <a:pPr marL="0" indent="0">
              <a:buNone/>
            </a:pPr>
            <a:r>
              <a:rPr lang="en-US" sz="1600">
                <a:ea typeface="+mn-lt"/>
                <a:cs typeface="+mn-lt"/>
              </a:rPr>
              <a:t>We converted sentiment labels into a consistent format such as Positive, Negative, and Neutral. This ensures uniformity in the dataset and helps in accurate analysis.</a:t>
            </a:r>
            <a:endParaRPr lang="en-US" sz="1600" dirty="0"/>
          </a:p>
          <a:p>
            <a:r>
              <a:rPr lang="en-US" sz="1600">
                <a:ea typeface="+mn-lt"/>
                <a:cs typeface="+mn-lt"/>
              </a:rPr>
              <a:t>Data Formatting and Conversion</a:t>
            </a:r>
            <a:endParaRPr lang="en-US" sz="1600" dirty="0"/>
          </a:p>
          <a:p>
            <a:pPr marL="0" indent="0">
              <a:buNone/>
            </a:pPr>
            <a:r>
              <a:rPr lang="en-US" sz="1600">
                <a:ea typeface="+mn-lt"/>
                <a:cs typeface="+mn-lt"/>
              </a:rPr>
              <a:t>We converted the data into the correct format, ensuring that numerical columns are properly structured and text data is organized. This step is important for applying machine learning models.</a:t>
            </a:r>
            <a:endParaRPr lang="en-US" sz="1600" dirty="0"/>
          </a:p>
          <a:p>
            <a:r>
              <a:rPr lang="en-US" sz="1600">
                <a:ea typeface="+mn-lt"/>
                <a:cs typeface="+mn-lt"/>
              </a:rPr>
              <a:t>Feature Selection</a:t>
            </a:r>
            <a:endParaRPr lang="en-US" sz="1600" dirty="0"/>
          </a:p>
          <a:p>
            <a:pPr marL="0" indent="0">
              <a:buNone/>
            </a:pPr>
            <a:r>
              <a:rPr lang="en-US" sz="1600">
                <a:ea typeface="+mn-lt"/>
                <a:cs typeface="+mn-lt"/>
              </a:rPr>
              <a:t>We selected only the most relevant columns such as AI usage hours, coding hours, sleep hours, and commits. This helps in focusing on important factors that directly impact productivity.</a:t>
            </a:r>
            <a:endParaRPr lang="en-US" sz="1600" dirty="0"/>
          </a:p>
          <a:p>
            <a:r>
              <a:rPr lang="en-US" sz="1600">
                <a:ea typeface="+mn-lt"/>
                <a:cs typeface="+mn-lt"/>
              </a:rPr>
              <a:t>Preparing Data for Analysis</a:t>
            </a:r>
            <a:endParaRPr lang="en-US" sz="1600" dirty="0"/>
          </a:p>
          <a:p>
            <a:pPr marL="0" indent="0">
              <a:buNone/>
            </a:pPr>
            <a:r>
              <a:rPr lang="en-US" sz="1600">
                <a:ea typeface="+mn-lt"/>
                <a:cs typeface="+mn-lt"/>
              </a:rPr>
              <a:t>Finally, we prepared the dataset for further analysis and modeling. These preprocessing steps improve data quality, increase accuracy, and ensure better results in both analysis and machine learning models.</a:t>
            </a:r>
            <a:endParaRPr lang="en-US" sz="1600"/>
          </a:p>
          <a:p>
            <a:endParaRPr lang="en-US" sz="1500"/>
          </a:p>
        </p:txBody>
      </p:sp>
    </p:spTree>
    <p:extLst>
      <p:ext uri="{BB962C8B-B14F-4D97-AF65-F5344CB8AC3E}">
        <p14:creationId xmlns:p14="http://schemas.microsoft.com/office/powerpoint/2010/main" val="2019992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642B02-0F0D-4B65-DA46-035D1AB30017}"/>
              </a:ext>
            </a:extLst>
          </p:cNvPr>
          <p:cNvSpPr>
            <a:spLocks noGrp="1"/>
          </p:cNvSpPr>
          <p:nvPr>
            <p:ph type="title"/>
          </p:nvPr>
        </p:nvSpPr>
        <p:spPr>
          <a:xfrm>
            <a:off x="956826" y="1112969"/>
            <a:ext cx="3937298" cy="4166010"/>
          </a:xfrm>
        </p:spPr>
        <p:txBody>
          <a:bodyPr>
            <a:normAutofit/>
          </a:bodyPr>
          <a:lstStyle/>
          <a:p>
            <a:r>
              <a:rPr lang="en-US">
                <a:solidFill>
                  <a:srgbClr val="FFFFFF"/>
                </a:solidFill>
                <a:ea typeface="+mj-lt"/>
                <a:cs typeface="+mj-lt"/>
              </a:rPr>
              <a:t>Exploratory Data Analysis (EDA)</a:t>
            </a:r>
            <a:endParaRPr lang="en-US">
              <a:solidFill>
                <a:srgbClr val="FFFFFF"/>
              </a:solidFill>
            </a:endParaRP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3E7DEA6A-8F7A-7D78-D061-11FBF5E35BAD}"/>
              </a:ext>
            </a:extLst>
          </p:cNvPr>
          <p:cNvSpPr>
            <a:spLocks noGrp="1"/>
          </p:cNvSpPr>
          <p:nvPr>
            <p:ph idx="1"/>
          </p:nvPr>
        </p:nvSpPr>
        <p:spPr>
          <a:xfrm>
            <a:off x="6096000" y="820880"/>
            <a:ext cx="5257799" cy="4889350"/>
          </a:xfrm>
        </p:spPr>
        <p:txBody>
          <a:bodyPr vert="horz" lIns="91440" tIns="45720" rIns="91440" bIns="45720" rtlCol="0" anchor="t">
            <a:noAutofit/>
          </a:bodyPr>
          <a:lstStyle/>
          <a:p>
            <a:r>
              <a:rPr lang="en-US" sz="1600">
                <a:ea typeface="+mn-lt"/>
                <a:cs typeface="+mn-lt"/>
              </a:rPr>
              <a:t>Understanding the Dataset</a:t>
            </a:r>
            <a:endParaRPr lang="en-US" sz="1600"/>
          </a:p>
          <a:p>
            <a:pPr marL="0" indent="0">
              <a:buNone/>
            </a:pPr>
            <a:r>
              <a:rPr lang="en-US" sz="1600">
                <a:ea typeface="+mn-lt"/>
                <a:cs typeface="+mn-lt"/>
              </a:rPr>
              <a:t>In this stage, we performed exploratory data analysis to understand the structure and characteristics of the dataset. We examined different variables such as AI usage hours, coding hours, sleep hours, and commits to get an overall idea of developer behavior.</a:t>
            </a:r>
            <a:endParaRPr lang="en-US" sz="1600"/>
          </a:p>
          <a:p>
            <a:r>
              <a:rPr lang="en-US" sz="1600">
                <a:ea typeface="+mn-lt"/>
                <a:cs typeface="+mn-lt"/>
              </a:rPr>
              <a:t>Analyzing Sentiment Distribution</a:t>
            </a:r>
            <a:endParaRPr lang="en-US" sz="1600"/>
          </a:p>
          <a:p>
            <a:pPr marL="0" indent="0">
              <a:buNone/>
            </a:pPr>
            <a:r>
              <a:rPr lang="en-US" sz="1600">
                <a:ea typeface="+mn-lt"/>
                <a:cs typeface="+mn-lt"/>
              </a:rPr>
              <a:t>We analyzed the distribution of sentiment labels in the primary dataset. This helped us understand how users feel about ChatGPT, whether the overall opinion is positive, negative, or neutral.</a:t>
            </a:r>
            <a:endParaRPr lang="en-US" sz="1600"/>
          </a:p>
          <a:p>
            <a:r>
              <a:rPr lang="en-US" sz="1600">
                <a:ea typeface="+mn-lt"/>
                <a:cs typeface="+mn-lt"/>
              </a:rPr>
              <a:t>Exploring Productivity Patterns</a:t>
            </a:r>
            <a:endParaRPr lang="en-US" sz="1600"/>
          </a:p>
          <a:p>
            <a:pPr marL="0" indent="0">
              <a:buNone/>
            </a:pPr>
            <a:r>
              <a:rPr lang="en-US" sz="1600">
                <a:ea typeface="+mn-lt"/>
                <a:cs typeface="+mn-lt"/>
              </a:rPr>
              <a:t>We explored how productivity changes based on different factors such as AI usage and coding hours. This helped us identify which variables have a strong impact on developer performance.</a:t>
            </a:r>
            <a:endParaRPr lang="en-US" sz="1600"/>
          </a:p>
          <a:p>
            <a:r>
              <a:rPr lang="en-US" sz="1600">
                <a:ea typeface="+mn-lt"/>
                <a:cs typeface="+mn-lt"/>
              </a:rPr>
              <a:t>Identifying Trends in Data</a:t>
            </a:r>
            <a:endParaRPr lang="en-US" sz="1600"/>
          </a:p>
          <a:p>
            <a:pPr marL="0" indent="0">
              <a:buNone/>
            </a:pPr>
            <a:r>
              <a:rPr lang="en-US" sz="1600">
                <a:ea typeface="+mn-lt"/>
                <a:cs typeface="+mn-lt"/>
              </a:rPr>
              <a:t>We observed trends in coding behavior, such as how increased AI usage is related to higher commits. This helped us understand patterns in real-world developer activity.</a:t>
            </a:r>
            <a:endParaRPr lang="en-US" sz="1600"/>
          </a:p>
          <a:p>
            <a:endParaRPr lang="en-US" sz="130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977113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23115D-D825-D164-A26F-2C5187B4216E}"/>
              </a:ext>
            </a:extLst>
          </p:cNvPr>
          <p:cNvSpPr>
            <a:spLocks noGrp="1"/>
          </p:cNvSpPr>
          <p:nvPr>
            <p:ph type="title"/>
          </p:nvPr>
        </p:nvSpPr>
        <p:spPr>
          <a:xfrm>
            <a:off x="686834" y="591344"/>
            <a:ext cx="3200400" cy="5585619"/>
          </a:xfrm>
        </p:spPr>
        <p:txBody>
          <a:bodyPr>
            <a:normAutofit/>
          </a:bodyPr>
          <a:lstStyle/>
          <a:p>
            <a:r>
              <a:rPr lang="en-US" sz="4100">
                <a:solidFill>
                  <a:srgbClr val="FFFFFF"/>
                </a:solidFill>
                <a:latin typeface="Aptos"/>
              </a:rPr>
              <a:t>Data Visualization and Insights</a:t>
            </a:r>
            <a:endParaRPr lang="en-US" sz="41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5016D5A-A469-EC55-8AA9-6CFBC582BD09}"/>
              </a:ext>
            </a:extLst>
          </p:cNvPr>
          <p:cNvSpPr>
            <a:spLocks noGrp="1"/>
          </p:cNvSpPr>
          <p:nvPr>
            <p:ph idx="1"/>
          </p:nvPr>
        </p:nvSpPr>
        <p:spPr>
          <a:xfrm>
            <a:off x="4447308" y="591344"/>
            <a:ext cx="6906491" cy="5585619"/>
          </a:xfrm>
        </p:spPr>
        <p:txBody>
          <a:bodyPr vert="horz" lIns="91440" tIns="45720" rIns="91440" bIns="45720" rtlCol="0" anchor="ctr">
            <a:normAutofit/>
          </a:bodyPr>
          <a:lstStyle/>
          <a:p>
            <a:endParaRPr lang="en-US" sz="1500"/>
          </a:p>
          <a:p>
            <a:r>
              <a:rPr lang="en-US" sz="1500">
                <a:ea typeface="+mn-lt"/>
                <a:cs typeface="+mn-lt"/>
              </a:rPr>
              <a:t>Creating Visual Representations</a:t>
            </a:r>
            <a:endParaRPr lang="en-US" sz="1500"/>
          </a:p>
          <a:p>
            <a:pPr marL="0" indent="0">
              <a:buNone/>
            </a:pPr>
            <a:r>
              <a:rPr lang="en-US" sz="1500" dirty="0">
                <a:ea typeface="+mn-lt"/>
                <a:cs typeface="+mn-lt"/>
              </a:rPr>
              <a:t>We created multiple charts and graphs such as bar charts, pie charts, and scatter plots to visually represent the data. These visuals make it easier to understand complex information.</a:t>
            </a:r>
            <a:endParaRPr lang="en-US" sz="1500" dirty="0"/>
          </a:p>
          <a:p>
            <a:r>
              <a:rPr lang="en-US" sz="1500">
                <a:ea typeface="+mn-lt"/>
                <a:cs typeface="+mn-lt"/>
              </a:rPr>
              <a:t>Comparing AI Usage with Performance</a:t>
            </a:r>
            <a:endParaRPr lang="en-US" sz="1500"/>
          </a:p>
          <a:p>
            <a:pPr marL="0" indent="0">
              <a:buNone/>
            </a:pPr>
            <a:r>
              <a:rPr lang="en-US" sz="1500">
                <a:ea typeface="+mn-lt"/>
                <a:cs typeface="+mn-lt"/>
              </a:rPr>
              <a:t>We compared AI usage hours with commits to analyze how AI tools affect productivity. The visuals showed a positive relationship between AI usage and performance.</a:t>
            </a:r>
            <a:endParaRPr lang="en-US" sz="1500"/>
          </a:p>
          <a:p>
            <a:r>
              <a:rPr lang="en-US" sz="1500">
                <a:ea typeface="+mn-lt"/>
                <a:cs typeface="+mn-lt"/>
              </a:rPr>
              <a:t>Studying Relationships Between Variables</a:t>
            </a:r>
            <a:endParaRPr lang="en-US" sz="1500"/>
          </a:p>
          <a:p>
            <a:pPr marL="0" indent="0">
              <a:buNone/>
            </a:pPr>
            <a:r>
              <a:rPr lang="en-US" sz="1500" dirty="0">
                <a:ea typeface="+mn-lt"/>
                <a:cs typeface="+mn-lt"/>
              </a:rPr>
              <a:t>We used scatter plots and other visuals to study relationships between variables such as coding hours, sleep hours, and productivity. This helped in understanding how different factors interact with each other.</a:t>
            </a:r>
            <a:endParaRPr lang="en-US" sz="1500" dirty="0"/>
          </a:p>
          <a:p>
            <a:pPr marL="0" indent="0">
              <a:buNone/>
            </a:pPr>
            <a:endParaRPr lang="en-US" sz="1500">
              <a:ea typeface="+mn-lt"/>
              <a:cs typeface="+mn-lt"/>
            </a:endParaRPr>
          </a:p>
          <a:p>
            <a:r>
              <a:rPr lang="en-US" sz="1500">
                <a:ea typeface="+mn-lt"/>
                <a:cs typeface="+mn-lt"/>
              </a:rPr>
              <a:t>Generating Insights from Visuals</a:t>
            </a:r>
          </a:p>
          <a:p>
            <a:pPr marL="0" indent="0">
              <a:buNone/>
            </a:pPr>
            <a:br>
              <a:rPr lang="en-US" sz="1500" dirty="0"/>
            </a:br>
            <a:r>
              <a:rPr lang="en-US" sz="1500">
                <a:ea typeface="+mn-lt"/>
                <a:cs typeface="+mn-lt"/>
              </a:rPr>
              <a:t>From the visualizations, we generated meaningful insights such as higher AI usage leads to better productivity, and balanced sleep improves performance. These insights are important for answering our research questions.</a:t>
            </a:r>
            <a:endParaRPr lang="en-US" sz="1500"/>
          </a:p>
          <a:p>
            <a:endParaRPr lang="en-US" sz="1500"/>
          </a:p>
        </p:txBody>
      </p:sp>
    </p:spTree>
    <p:extLst>
      <p:ext uri="{BB962C8B-B14F-4D97-AF65-F5344CB8AC3E}">
        <p14:creationId xmlns:p14="http://schemas.microsoft.com/office/powerpoint/2010/main" val="2591594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1556EE-AB5B-EC86-2872-A5E5050433E1}"/>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100" dirty="0">
                <a:latin typeface="Aptos"/>
              </a:rPr>
              <a:t>Visuali</a:t>
            </a:r>
            <a:r>
              <a:rPr lang="en-US" sz="4100">
                <a:latin typeface="Aptos"/>
              </a:rPr>
              <a:t>zation result </a:t>
            </a:r>
          </a:p>
        </p:txBody>
      </p:sp>
      <p:sp>
        <p:nvSpPr>
          <p:cNvPr id="17"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D23B40A6-6FAC-F858-8800-4AF84D8A1BE6}"/>
              </a:ext>
            </a:extLst>
          </p:cNvPr>
          <p:cNvPicPr>
            <a:picLocks noGrp="1" noChangeAspect="1"/>
          </p:cNvPicPr>
          <p:nvPr>
            <p:ph sz="half" idx="2"/>
          </p:nvPr>
        </p:nvPicPr>
        <p:blipFill>
          <a:blip r:embed="rId2"/>
          <a:stretch>
            <a:fillRect/>
          </a:stretch>
        </p:blipFill>
        <p:spPr>
          <a:xfrm>
            <a:off x="1296901" y="2642616"/>
            <a:ext cx="3660694" cy="3605784"/>
          </a:xfrm>
          <a:prstGeom prst="rect">
            <a:avLst/>
          </a:prstGeom>
        </p:spPr>
      </p:pic>
      <p:pic>
        <p:nvPicPr>
          <p:cNvPr id="6" name="Content Placeholder 5" descr="A screen shot of a graph&#10;&#10;AI-generated content may be incorrect.">
            <a:extLst>
              <a:ext uri="{FF2B5EF4-FFF2-40B4-BE49-F238E27FC236}">
                <a16:creationId xmlns:a16="http://schemas.microsoft.com/office/drawing/2014/main" id="{144C81F2-5EC2-5CAF-3474-3E2B713617DD}"/>
              </a:ext>
            </a:extLst>
          </p:cNvPr>
          <p:cNvPicPr>
            <a:picLocks noGrp="1" noChangeAspect="1"/>
          </p:cNvPicPr>
          <p:nvPr>
            <p:ph sz="half" idx="1"/>
          </p:nvPr>
        </p:nvPicPr>
        <p:blipFill>
          <a:blip r:embed="rId3"/>
          <a:stretch>
            <a:fillRect/>
          </a:stretch>
        </p:blipFill>
        <p:spPr>
          <a:xfrm>
            <a:off x="7064040" y="2642616"/>
            <a:ext cx="3995328" cy="3605784"/>
          </a:xfrm>
          <a:prstGeom prst="rect">
            <a:avLst/>
          </a:prstGeom>
        </p:spPr>
      </p:pic>
    </p:spTree>
    <p:extLst>
      <p:ext uri="{BB962C8B-B14F-4D97-AF65-F5344CB8AC3E}">
        <p14:creationId xmlns:p14="http://schemas.microsoft.com/office/powerpoint/2010/main" val="3160415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4577A0-DF67-E295-04CB-6749913C0A0B}"/>
              </a:ext>
            </a:extLst>
          </p:cNvPr>
          <p:cNvSpPr>
            <a:spLocks noGrp="1"/>
          </p:cNvSpPr>
          <p:nvPr>
            <p:ph type="title"/>
          </p:nvPr>
        </p:nvSpPr>
        <p:spPr>
          <a:xfrm>
            <a:off x="686834" y="1153572"/>
            <a:ext cx="3200400" cy="4461163"/>
          </a:xfrm>
        </p:spPr>
        <p:txBody>
          <a:bodyPr>
            <a:normAutofit/>
          </a:bodyPr>
          <a:lstStyle/>
          <a:p>
            <a:r>
              <a:rPr lang="en-US">
                <a:solidFill>
                  <a:srgbClr val="FFFFFF"/>
                </a:solidFill>
                <a:latin typeface="Aptos"/>
              </a:rPr>
              <a:t>Machine Learning Models (Milestone 4)</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4C4D16B-AFAC-84EF-B1CB-24948E0B0A5C}"/>
              </a:ext>
            </a:extLst>
          </p:cNvPr>
          <p:cNvSpPr>
            <a:spLocks noGrp="1"/>
          </p:cNvSpPr>
          <p:nvPr>
            <p:ph idx="1"/>
          </p:nvPr>
        </p:nvSpPr>
        <p:spPr>
          <a:xfrm>
            <a:off x="4447308" y="591344"/>
            <a:ext cx="6906491" cy="5585619"/>
          </a:xfrm>
        </p:spPr>
        <p:txBody>
          <a:bodyPr vert="horz" lIns="91440" tIns="45720" rIns="91440" bIns="45720" rtlCol="0" anchor="ctr">
            <a:normAutofit/>
          </a:bodyPr>
          <a:lstStyle/>
          <a:p>
            <a:endParaRPr lang="en-US" sz="1500" dirty="0"/>
          </a:p>
          <a:p>
            <a:r>
              <a:rPr lang="en-US" sz="1500">
                <a:ea typeface="+mn-lt"/>
                <a:cs typeface="+mn-lt"/>
              </a:rPr>
              <a:t>Model Selection and Purpose</a:t>
            </a:r>
            <a:endParaRPr lang="en-US" sz="1500"/>
          </a:p>
          <a:p>
            <a:pPr marL="0" indent="0">
              <a:buNone/>
            </a:pPr>
            <a:r>
              <a:rPr lang="en-US" sz="1500">
                <a:ea typeface="+mn-lt"/>
                <a:cs typeface="+mn-lt"/>
              </a:rPr>
              <a:t>In this stage, we applied machine learning techniques to predict developer productivity and understand the relationship between different variables. The goal was to identify which factors most strongly influence productivity and to compare the performance of different models.</a:t>
            </a:r>
            <a:endParaRPr lang="en-US" sz="1500"/>
          </a:p>
          <a:p>
            <a:r>
              <a:rPr lang="en-US" sz="1500">
                <a:ea typeface="+mn-lt"/>
                <a:cs typeface="+mn-lt"/>
              </a:rPr>
              <a:t>Applied Machine Learning Models</a:t>
            </a:r>
            <a:endParaRPr lang="en-US" sz="1500"/>
          </a:p>
          <a:p>
            <a:pPr marL="0" indent="0">
              <a:buNone/>
            </a:pPr>
            <a:r>
              <a:rPr lang="en-US" sz="1500">
                <a:ea typeface="+mn-lt"/>
                <a:cs typeface="+mn-lt"/>
              </a:rPr>
              <a:t>We implemented three different models: Linear Regression, Decision Tree, and Random Forest. Linear Regression was used to understand the linear relationship between variables, while Decision Tree and Random Forest were used to capture more complex patterns in the data.</a:t>
            </a:r>
            <a:endParaRPr lang="en-US" sz="1500"/>
          </a:p>
          <a:p>
            <a:r>
              <a:rPr lang="en-US" sz="1500">
                <a:ea typeface="+mn-lt"/>
                <a:cs typeface="+mn-lt"/>
              </a:rPr>
              <a:t>Feature and Target Variable Selection</a:t>
            </a:r>
            <a:endParaRPr lang="en-US" sz="1500"/>
          </a:p>
          <a:p>
            <a:pPr marL="0" indent="0">
              <a:buNone/>
            </a:pPr>
            <a:r>
              <a:rPr lang="en-US" sz="1500">
                <a:ea typeface="+mn-lt"/>
                <a:cs typeface="+mn-lt"/>
              </a:rPr>
              <a:t>We selected important features such as AI usage hours, coding hours, and sleep hours as input variables. The number of commits was chosen as the target variable because it directly represents developer productivity.</a:t>
            </a:r>
            <a:endParaRPr lang="en-US" sz="1500"/>
          </a:p>
          <a:p>
            <a:r>
              <a:rPr lang="en-US" sz="1500">
                <a:ea typeface="+mn-lt"/>
                <a:cs typeface="+mn-lt"/>
              </a:rPr>
              <a:t>Training and Testing Process</a:t>
            </a:r>
            <a:endParaRPr lang="en-US" sz="1500"/>
          </a:p>
          <a:p>
            <a:pPr marL="0" indent="0">
              <a:buNone/>
            </a:pPr>
            <a:r>
              <a:rPr lang="en-US" sz="1500">
                <a:ea typeface="+mn-lt"/>
                <a:cs typeface="+mn-lt"/>
              </a:rPr>
              <a:t>The dataset was split into training and testing sets to evaluate model performance. The models were trained using the training data and tested on unseen data to ensure accurate and reliable predictions.</a:t>
            </a:r>
            <a:endParaRPr lang="en-US" sz="1500"/>
          </a:p>
          <a:p>
            <a:endParaRPr lang="en-US" sz="1500"/>
          </a:p>
        </p:txBody>
      </p:sp>
    </p:spTree>
    <p:extLst>
      <p:ext uri="{BB962C8B-B14F-4D97-AF65-F5344CB8AC3E}">
        <p14:creationId xmlns:p14="http://schemas.microsoft.com/office/powerpoint/2010/main" val="1373659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35DDB0-BCBD-B9EC-115D-8B3C2D8B1069}"/>
              </a:ext>
            </a:extLst>
          </p:cNvPr>
          <p:cNvSpPr>
            <a:spLocks noGrp="1"/>
          </p:cNvSpPr>
          <p:nvPr>
            <p:ph type="title"/>
          </p:nvPr>
        </p:nvSpPr>
        <p:spPr>
          <a:xfrm>
            <a:off x="838200" y="365125"/>
            <a:ext cx="10515600" cy="1325563"/>
          </a:xfrm>
        </p:spPr>
        <p:txBody>
          <a:bodyPr>
            <a:normAutofit/>
          </a:bodyPr>
          <a:lstStyle/>
          <a:p>
            <a:r>
              <a:rPr lang="en-US" sz="5400">
                <a:latin typeface="Aptos"/>
              </a:rPr>
              <a:t>Model Results and Evaluation</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C9280FE-6D4A-4236-00D0-D5911D7A18D2}"/>
              </a:ext>
            </a:extLst>
          </p:cNvPr>
          <p:cNvSpPr>
            <a:spLocks noGrp="1"/>
          </p:cNvSpPr>
          <p:nvPr>
            <p:ph idx="1"/>
          </p:nvPr>
        </p:nvSpPr>
        <p:spPr>
          <a:xfrm>
            <a:off x="838200" y="1929384"/>
            <a:ext cx="10515600" cy="4251960"/>
          </a:xfrm>
        </p:spPr>
        <p:txBody>
          <a:bodyPr vert="horz" lIns="91440" tIns="45720" rIns="91440" bIns="45720" rtlCol="0">
            <a:normAutofit/>
          </a:bodyPr>
          <a:lstStyle/>
          <a:p>
            <a:pPr marL="0" indent="0">
              <a:buNone/>
            </a:pPr>
            <a:endParaRPr lang="en-US" sz="1500"/>
          </a:p>
          <a:p>
            <a:r>
              <a:rPr lang="en-US" sz="1500">
                <a:ea typeface="+mn-lt"/>
                <a:cs typeface="+mn-lt"/>
              </a:rPr>
              <a:t>Evaluation Metric (RMSE)</a:t>
            </a:r>
            <a:endParaRPr lang="en-US" sz="1500"/>
          </a:p>
          <a:p>
            <a:pPr marL="0" indent="0">
              <a:buNone/>
            </a:pPr>
            <a:r>
              <a:rPr lang="en-US" sz="1500">
                <a:ea typeface="+mn-lt"/>
                <a:cs typeface="+mn-lt"/>
              </a:rPr>
              <a:t>We used RMSE (Root Mean Squared Error) to evaluate the performance of the models. RMSE measures the difference between actual and predicted values, where a lower RMSE indicates better model accuracy.</a:t>
            </a:r>
            <a:endParaRPr lang="en-US" sz="1500"/>
          </a:p>
          <a:p>
            <a:r>
              <a:rPr lang="en-US" sz="1500">
                <a:ea typeface="+mn-lt"/>
                <a:cs typeface="+mn-lt"/>
              </a:rPr>
              <a:t>Model Performance Comparison</a:t>
            </a:r>
            <a:endParaRPr lang="en-US" sz="1500"/>
          </a:p>
          <a:p>
            <a:pPr marL="0" indent="0">
              <a:buNone/>
            </a:pPr>
            <a:r>
              <a:rPr lang="en-US" sz="1500">
                <a:ea typeface="+mn-lt"/>
                <a:cs typeface="+mn-lt"/>
              </a:rPr>
              <a:t>The results showed that Linear Regression achieved the lowest RMSE, indicating the best performance. Random Forest performed moderately well, while Decision Tree showed the highest error, making it the least accurate model.</a:t>
            </a:r>
            <a:endParaRPr lang="en-US" sz="1500"/>
          </a:p>
          <a:p>
            <a:r>
              <a:rPr lang="en-US" sz="1500">
                <a:ea typeface="+mn-lt"/>
                <a:cs typeface="+mn-lt"/>
              </a:rPr>
              <a:t>Interpretation of Results</a:t>
            </a:r>
            <a:endParaRPr lang="en-US" sz="1500"/>
          </a:p>
          <a:p>
            <a:pPr marL="0" indent="0">
              <a:buNone/>
            </a:pPr>
            <a:r>
              <a:rPr lang="en-US" sz="1500">
                <a:ea typeface="+mn-lt"/>
                <a:cs typeface="+mn-lt"/>
              </a:rPr>
              <a:t>The results suggest that the dataset has a relatively simple and linear relationship between variables, which makes Linear Regression more suitable. More complex models like Decision Tree and Random Forest did not perform as well.</a:t>
            </a:r>
            <a:endParaRPr lang="en-US" sz="1500"/>
          </a:p>
          <a:p>
            <a:r>
              <a:rPr lang="en-US" sz="1500">
                <a:ea typeface="+mn-lt"/>
                <a:cs typeface="+mn-lt"/>
              </a:rPr>
              <a:t>Best Model Selection</a:t>
            </a:r>
            <a:endParaRPr lang="en-US" sz="1500"/>
          </a:p>
          <a:p>
            <a:pPr marL="0" indent="0">
              <a:buNone/>
            </a:pPr>
            <a:r>
              <a:rPr lang="en-US" sz="1500">
                <a:ea typeface="+mn-lt"/>
                <a:cs typeface="+mn-lt"/>
              </a:rPr>
              <a:t>Based on the evaluation results, Linear Regression was selected as the best-performing model. It provides more accurate predictions and helps in clearly understanding the relationship between AI usage and productivity.</a:t>
            </a:r>
            <a:endParaRPr lang="en-US" sz="1500"/>
          </a:p>
          <a:p>
            <a:endParaRPr lang="en-US" sz="1500"/>
          </a:p>
        </p:txBody>
      </p:sp>
    </p:spTree>
    <p:extLst>
      <p:ext uri="{BB962C8B-B14F-4D97-AF65-F5344CB8AC3E}">
        <p14:creationId xmlns:p14="http://schemas.microsoft.com/office/powerpoint/2010/main" val="2718186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932A92-5124-89BF-CF23-09C1EB5B60A5}"/>
              </a:ext>
            </a:extLst>
          </p:cNvPr>
          <p:cNvSpPr>
            <a:spLocks noGrp="1"/>
          </p:cNvSpPr>
          <p:nvPr>
            <p:ph type="title"/>
          </p:nvPr>
        </p:nvSpPr>
        <p:spPr>
          <a:xfrm>
            <a:off x="841248" y="548640"/>
            <a:ext cx="3600860" cy="5431536"/>
          </a:xfrm>
        </p:spPr>
        <p:txBody>
          <a:bodyPr>
            <a:normAutofit/>
          </a:bodyPr>
          <a:lstStyle/>
          <a:p>
            <a:r>
              <a:rPr lang="en-US" sz="5400"/>
              <a:t>ML Model Result</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E17D0566-B2FD-FE6D-425F-2AB94D9FACB3}"/>
              </a:ext>
            </a:extLst>
          </p:cNvPr>
          <p:cNvPicPr>
            <a:picLocks noGrp="1" noChangeAspect="1"/>
          </p:cNvPicPr>
          <p:nvPr>
            <p:ph idx="1"/>
          </p:nvPr>
        </p:nvPicPr>
        <p:blipFill>
          <a:blip r:embed="rId2"/>
          <a:stretch>
            <a:fillRect/>
          </a:stretch>
        </p:blipFill>
        <p:spPr>
          <a:xfrm>
            <a:off x="5091902" y="552091"/>
            <a:ext cx="6523971" cy="5892746"/>
          </a:xfrm>
          <a:prstGeom prst="rect">
            <a:avLst/>
          </a:prstGeom>
        </p:spPr>
      </p:pic>
    </p:spTree>
    <p:extLst>
      <p:ext uri="{BB962C8B-B14F-4D97-AF65-F5344CB8AC3E}">
        <p14:creationId xmlns:p14="http://schemas.microsoft.com/office/powerpoint/2010/main" val="3463924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3B62E-2427-0E4B-DC86-543ABBFE45D8}"/>
              </a:ext>
            </a:extLst>
          </p:cNvPr>
          <p:cNvSpPr>
            <a:spLocks noGrp="1"/>
          </p:cNvSpPr>
          <p:nvPr>
            <p:ph type="title"/>
          </p:nvPr>
        </p:nvSpPr>
        <p:spPr/>
        <p:txBody>
          <a:bodyPr/>
          <a:lstStyle/>
          <a:p>
            <a:r>
              <a:rPr lang="en-US"/>
              <a:t>Dashboard </a:t>
            </a:r>
          </a:p>
        </p:txBody>
      </p:sp>
      <p:pic>
        <p:nvPicPr>
          <p:cNvPr id="4" name="Content Placeholder 3" descr="A screenshot of a graph&#10;&#10;AI-generated content may be incorrect.">
            <a:extLst>
              <a:ext uri="{FF2B5EF4-FFF2-40B4-BE49-F238E27FC236}">
                <a16:creationId xmlns:a16="http://schemas.microsoft.com/office/drawing/2014/main" id="{FEB6A9EE-F9EC-D271-CC7F-7554198CE898}"/>
              </a:ext>
            </a:extLst>
          </p:cNvPr>
          <p:cNvPicPr>
            <a:picLocks noGrp="1" noChangeAspect="1"/>
          </p:cNvPicPr>
          <p:nvPr>
            <p:ph idx="1"/>
          </p:nvPr>
        </p:nvPicPr>
        <p:blipFill>
          <a:blip r:embed="rId2"/>
          <a:stretch>
            <a:fillRect/>
          </a:stretch>
        </p:blipFill>
        <p:spPr>
          <a:xfrm>
            <a:off x="969266" y="1722304"/>
            <a:ext cx="10098484" cy="4984184"/>
          </a:xfrm>
          <a:prstGeom prst="rect">
            <a:avLst/>
          </a:prstGeom>
        </p:spPr>
      </p:pic>
    </p:spTree>
    <p:extLst>
      <p:ext uri="{BB962C8B-B14F-4D97-AF65-F5344CB8AC3E}">
        <p14:creationId xmlns:p14="http://schemas.microsoft.com/office/powerpoint/2010/main" val="943248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94D9D7-3EBC-05B9-ADFE-CEBA494B2848}"/>
              </a:ext>
            </a:extLst>
          </p:cNvPr>
          <p:cNvSpPr>
            <a:spLocks noGrp="1"/>
          </p:cNvSpPr>
          <p:nvPr>
            <p:ph type="title"/>
          </p:nvPr>
        </p:nvSpPr>
        <p:spPr>
          <a:xfrm>
            <a:off x="686834" y="1153572"/>
            <a:ext cx="3200400" cy="4461163"/>
          </a:xfrm>
        </p:spPr>
        <p:txBody>
          <a:bodyPr>
            <a:normAutofit/>
          </a:bodyPr>
          <a:lstStyle/>
          <a:p>
            <a:r>
              <a:rPr lang="en-US">
                <a:solidFill>
                  <a:srgbClr val="FFFFFF"/>
                </a:solidFill>
                <a:latin typeface="Aptos"/>
              </a:rPr>
              <a:t>Dashboard Insights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2C277A2-B694-13C7-87BE-7261EFE83020}"/>
              </a:ext>
            </a:extLst>
          </p:cNvPr>
          <p:cNvSpPr>
            <a:spLocks noGrp="1"/>
          </p:cNvSpPr>
          <p:nvPr>
            <p:ph idx="1"/>
          </p:nvPr>
        </p:nvSpPr>
        <p:spPr>
          <a:xfrm>
            <a:off x="4447308" y="591344"/>
            <a:ext cx="6906491" cy="5585619"/>
          </a:xfrm>
        </p:spPr>
        <p:txBody>
          <a:bodyPr vert="horz" lIns="91440" tIns="45720" rIns="91440" bIns="45720" rtlCol="0" anchor="ctr">
            <a:normAutofit/>
          </a:bodyPr>
          <a:lstStyle/>
          <a:p>
            <a:endParaRPr lang="en-US" sz="1500"/>
          </a:p>
          <a:p>
            <a:r>
              <a:rPr lang="en-US" sz="1500">
                <a:ea typeface="+mn-lt"/>
                <a:cs typeface="+mn-lt"/>
              </a:rPr>
              <a:t>Impact of AI Usage on Productivity</a:t>
            </a:r>
            <a:endParaRPr lang="en-US" sz="1500"/>
          </a:p>
          <a:p>
            <a:pPr marL="0" indent="0">
              <a:buNone/>
            </a:pPr>
            <a:r>
              <a:rPr lang="en-US" sz="1500">
                <a:ea typeface="+mn-lt"/>
                <a:cs typeface="+mn-lt"/>
              </a:rPr>
              <a:t>The dashboard clearly shows that AI usage has a positive impact on developer productivity. Developers who use AI tools more frequently tend to have a higher number of commits, which indicates increased activity and better performance. This suggests that AI tools help developers complete tasks more efficiently and quickly.</a:t>
            </a:r>
            <a:endParaRPr lang="en-US" sz="1500"/>
          </a:p>
          <a:p>
            <a:r>
              <a:rPr lang="en-US" sz="1500">
                <a:ea typeface="+mn-lt"/>
                <a:cs typeface="+mn-lt"/>
              </a:rPr>
              <a:t>Role of Sleep and Coding Hours</a:t>
            </a:r>
            <a:endParaRPr lang="en-US" sz="1500"/>
          </a:p>
          <a:p>
            <a:pPr marL="0" indent="0">
              <a:buNone/>
            </a:pPr>
            <a:r>
              <a:rPr lang="en-US" sz="1500">
                <a:ea typeface="+mn-lt"/>
                <a:cs typeface="+mn-lt"/>
              </a:rPr>
              <a:t>The analysis also highlights that balanced sleep plays an important role in improving performance. Developers who maintain proper sleep patterns are more focused and productive. Additionally, coding hours directly impact productivity, as developers who spend more time coding generally produce more output.</a:t>
            </a:r>
            <a:endParaRPr lang="en-US" sz="1500"/>
          </a:p>
          <a:p>
            <a:r>
              <a:rPr lang="en-US" sz="1500">
                <a:ea typeface="+mn-lt"/>
                <a:cs typeface="+mn-lt"/>
              </a:rPr>
              <a:t>User Sentiment and AI Adoption</a:t>
            </a:r>
            <a:endParaRPr lang="en-US" sz="1500"/>
          </a:p>
          <a:p>
            <a:pPr marL="0" indent="0">
              <a:buNone/>
            </a:pPr>
            <a:r>
              <a:rPr lang="en-US" sz="1500">
                <a:ea typeface="+mn-lt"/>
                <a:cs typeface="+mn-lt"/>
              </a:rPr>
              <a:t>The sentiment analysis shows that most users have a positive opinion about ChatGPT. This indicates strong acceptance of AI tools, which encourages more frequent usage and contributes to improved productivity.</a:t>
            </a:r>
            <a:endParaRPr lang="en-US" sz="1500"/>
          </a:p>
          <a:p>
            <a:r>
              <a:rPr lang="en-US" sz="1500">
                <a:ea typeface="+mn-lt"/>
                <a:cs typeface="+mn-lt"/>
              </a:rPr>
              <a:t>Overall Insights from Dashboard</a:t>
            </a:r>
            <a:endParaRPr lang="en-US" sz="1500"/>
          </a:p>
          <a:p>
            <a:pPr marL="0" indent="0">
              <a:buNone/>
            </a:pPr>
            <a:r>
              <a:rPr lang="en-US" sz="1500">
                <a:ea typeface="+mn-lt"/>
                <a:cs typeface="+mn-lt"/>
              </a:rPr>
              <a:t>The dashboard combines multiple factors such as AI usage, coding hours, sleep, and sentiment to provide a complete view of developer performance. It allows users to interact with the data and explore relationships between variables, making it easier to understand key insights.</a:t>
            </a:r>
            <a:endParaRPr lang="en-US" sz="1500"/>
          </a:p>
          <a:p>
            <a:endParaRPr lang="en-US" sz="1500"/>
          </a:p>
        </p:txBody>
      </p:sp>
    </p:spTree>
    <p:extLst>
      <p:ext uri="{BB962C8B-B14F-4D97-AF65-F5344CB8AC3E}">
        <p14:creationId xmlns:p14="http://schemas.microsoft.com/office/powerpoint/2010/main" val="3011160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AD4717-D2E2-5CD9-FCF6-D35E100C1DA1}"/>
              </a:ext>
            </a:extLst>
          </p:cNvPr>
          <p:cNvSpPr>
            <a:spLocks noGrp="1"/>
          </p:cNvSpPr>
          <p:nvPr>
            <p:ph type="title"/>
          </p:nvPr>
        </p:nvSpPr>
        <p:spPr>
          <a:xfrm>
            <a:off x="838200" y="365125"/>
            <a:ext cx="10515600" cy="1325563"/>
          </a:xfrm>
        </p:spPr>
        <p:txBody>
          <a:bodyPr>
            <a:normAutofit/>
          </a:bodyPr>
          <a:lstStyle/>
          <a:p>
            <a:r>
              <a:rPr lang="en-US" sz="5400">
                <a:latin typeface="Aptos"/>
              </a:rPr>
              <a:t>Conclusion</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5B736A7-FC01-7B9A-0980-7E3D229CC4D1}"/>
              </a:ext>
            </a:extLst>
          </p:cNvPr>
          <p:cNvSpPr>
            <a:spLocks noGrp="1"/>
          </p:cNvSpPr>
          <p:nvPr>
            <p:ph idx="1"/>
          </p:nvPr>
        </p:nvSpPr>
        <p:spPr>
          <a:xfrm>
            <a:off x="838200" y="1929384"/>
            <a:ext cx="10515600" cy="4251960"/>
          </a:xfrm>
        </p:spPr>
        <p:txBody>
          <a:bodyPr vert="horz" lIns="91440" tIns="45720" rIns="91440" bIns="45720" rtlCol="0" anchor="t">
            <a:normAutofit/>
          </a:bodyPr>
          <a:lstStyle/>
          <a:p>
            <a:endParaRPr lang="en-US" sz="1600" dirty="0"/>
          </a:p>
          <a:p>
            <a:r>
              <a:rPr lang="en-US" sz="1600">
                <a:ea typeface="+mn-lt"/>
                <a:cs typeface="+mn-lt"/>
              </a:rPr>
              <a:t>Summary of Key Findings</a:t>
            </a:r>
            <a:endParaRPr lang="en-US" sz="1600" dirty="0"/>
          </a:p>
          <a:p>
            <a:pPr marL="0" indent="0">
              <a:buNone/>
            </a:pPr>
            <a:r>
              <a:rPr lang="en-US" sz="1600">
                <a:ea typeface="+mn-lt"/>
                <a:cs typeface="+mn-lt"/>
              </a:rPr>
              <a:t>The project demonstrates that AI tools like ChatGPT significantly improve developer efficiency and productivity. Developers who use AI tools are able to complete tasks faster and with greater accuracy.</a:t>
            </a:r>
            <a:endParaRPr lang="en-US" sz="1600" dirty="0"/>
          </a:p>
          <a:p>
            <a:r>
              <a:rPr lang="en-US" sz="1600">
                <a:ea typeface="+mn-lt"/>
                <a:cs typeface="+mn-lt"/>
              </a:rPr>
              <a:t>Impact of AI on Developer Performance</a:t>
            </a:r>
            <a:endParaRPr lang="en-US" sz="1600" dirty="0"/>
          </a:p>
          <a:p>
            <a:pPr marL="0" indent="0">
              <a:buNone/>
            </a:pPr>
            <a:r>
              <a:rPr lang="en-US" sz="1600">
                <a:ea typeface="+mn-lt"/>
                <a:cs typeface="+mn-lt"/>
              </a:rPr>
              <a:t>The analysis shows that increased AI usage leads to higher productivity, while balanced sleep and consistent coding hours further enhance performance. These factors together create a positive impact on developer output.</a:t>
            </a:r>
            <a:endParaRPr lang="en-US" sz="1600" dirty="0"/>
          </a:p>
          <a:p>
            <a:r>
              <a:rPr lang="en-US" sz="1600">
                <a:ea typeface="+mn-lt"/>
                <a:cs typeface="+mn-lt"/>
              </a:rPr>
              <a:t>Role of Sentiment and Machine Learning</a:t>
            </a:r>
            <a:endParaRPr lang="en-US" sz="1600" dirty="0"/>
          </a:p>
          <a:p>
            <a:pPr marL="0" indent="0">
              <a:buNone/>
            </a:pPr>
            <a:r>
              <a:rPr lang="en-US" sz="1600">
                <a:ea typeface="+mn-lt"/>
                <a:cs typeface="+mn-lt"/>
              </a:rPr>
              <a:t>Positive user sentiment supports the adoption of AI tools, which leads to increased usage and better results. Machine learning models also confirm the relationship between AI usage and productivity, validating our findings.</a:t>
            </a:r>
            <a:endParaRPr lang="en-US" sz="1600" dirty="0"/>
          </a:p>
          <a:p>
            <a:r>
              <a:rPr lang="en-US" sz="1600">
                <a:ea typeface="+mn-lt"/>
                <a:cs typeface="+mn-lt"/>
              </a:rPr>
              <a:t>Final Conclusion</a:t>
            </a:r>
            <a:endParaRPr lang="en-US" sz="1600" dirty="0"/>
          </a:p>
          <a:p>
            <a:pPr marL="0" indent="0">
              <a:buNone/>
            </a:pPr>
            <a:r>
              <a:rPr lang="en-US" sz="1600">
                <a:ea typeface="+mn-lt"/>
                <a:cs typeface="+mn-lt"/>
              </a:rPr>
              <a:t>Overall, the data shows strong relationships between AI usage, developer behavior, and productivity. AI tools </a:t>
            </a:r>
            <a:r>
              <a:rPr lang="en-US" sz="1500">
                <a:ea typeface="+mn-lt"/>
                <a:cs typeface="+mn-lt"/>
              </a:rPr>
              <a:t>play an important role in modern software development and are becoming essential for improving efficiency and performance.</a:t>
            </a:r>
            <a:endParaRPr lang="en-US" sz="1500"/>
          </a:p>
          <a:p>
            <a:endParaRPr lang="en-US" sz="1500"/>
          </a:p>
        </p:txBody>
      </p:sp>
    </p:spTree>
    <p:extLst>
      <p:ext uri="{BB962C8B-B14F-4D97-AF65-F5344CB8AC3E}">
        <p14:creationId xmlns:p14="http://schemas.microsoft.com/office/powerpoint/2010/main" val="2842624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1952</Words>
  <Application>Microsoft Office PowerPoint</Application>
  <PresentationFormat>Widescreen</PresentationFormat>
  <Paragraphs>103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Impact of AI Usage on DeveloperProductivity</vt:lpstr>
      <vt:lpstr>Project overview</vt:lpstr>
      <vt:lpstr>Milestone 1 – Planning &amp; Data Collection</vt:lpstr>
      <vt:lpstr>Dataset </vt:lpstr>
      <vt:lpstr>Data Prepocessing</vt:lpstr>
      <vt:lpstr>Data Cleaning Process </vt:lpstr>
      <vt:lpstr>Data Preparation and Transformation</vt:lpstr>
      <vt:lpstr>Exploratory Data Analysis (EDA)</vt:lpstr>
      <vt:lpstr>Data Visualization and Insights</vt:lpstr>
      <vt:lpstr>Visualization result </vt:lpstr>
      <vt:lpstr>Machine Learning Models (Milestone 4)</vt:lpstr>
      <vt:lpstr>Model Results and Evaluation</vt:lpstr>
      <vt:lpstr>ML Model Result</vt:lpstr>
      <vt:lpstr>Dashboard </vt:lpstr>
      <vt:lpstr>Dashboard Insights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Nikhil Patel</cp:lastModifiedBy>
  <cp:revision>253</cp:revision>
  <dcterms:created xsi:type="dcterms:W3CDTF">2026-04-15T16:06:45Z</dcterms:created>
  <dcterms:modified xsi:type="dcterms:W3CDTF">2026-06-28T16:22:52Z</dcterms:modified>
</cp:coreProperties>
</file>